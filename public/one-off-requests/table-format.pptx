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workstream statuses supplied by the user. Reporting date: 26 October 2026.</a:t>
            </a:r>
          </a:p>
          <a:p>
            <a:r>
              <a:t>Typography: Roboto throughout, except workstream labels and table headers in Merriweather Black.</a:t>
            </a:r>
          </a:p>
          <a:p>
            <a:r>
              <a:t>The overall Financial Model indicator was removed at the user's request.</a:t>
            </a:r>
          </a:p>
          <a:p>
            <a:r>
              <a:t>All ten deliverable statuses, bracketed commentary fields, and legend elements are editable.</a:t>
            </a:r>
          </a:p>
          <a:p>
            <a:r>
              <a:t>Table horizontal bounds: 1.00 in to 12.3333 in on a 13.3333 x 7.5 in widescreen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 title"/>
          <p:cNvSpPr txBox="1"/>
          <p:nvPr/>
        </p:nvSpPr>
        <p:spPr>
          <a:xfrm>
            <a:off x="914400" y="493776"/>
            <a:ext cx="8229600" cy="42062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defRPr sz="2700" b="0">
                <a:latin typeface="Roboto"/>
                <a:ea typeface="Roboto"/>
                <a:cs typeface="Roboto"/>
              </a:defRPr>
            </a:pPr>
            <a:r>
              <a:rPr sz="2700" b="0" i="0">
                <a:solidFill>
                  <a:srgbClr val="3E173E"/>
                </a:solidFill>
                <a:latin typeface="Roboto"/>
                <a:ea typeface="Roboto"/>
                <a:cs typeface="Roboto"/>
              </a:rPr>
              <a:t>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914400" y="950976"/>
            <a:ext cx="731520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defRPr sz="1120" b="0">
                <a:latin typeface="Roboto"/>
                <a:ea typeface="Roboto"/>
                <a:cs typeface="Roboto"/>
              </a:defRPr>
            </a:pPr>
            <a:r>
              <a:rPr sz="1120" b="0" i="0">
                <a:solidFill>
                  <a:srgbClr val="4A4650"/>
                </a:solidFill>
                <a:latin typeface="Roboto"/>
                <a:ea typeface="Roboto"/>
                <a:cs typeface="Roboto"/>
              </a:rPr>
              <a:t>W</a:t>
            </a:r>
          </a:p>
        </p:txBody>
      </p:sp>
      <p:sp>
        <p:nvSpPr>
          <p:cNvPr id="4" name="Update label"/>
          <p:cNvSpPr txBox="1"/>
          <p:nvPr/>
        </p:nvSpPr>
        <p:spPr>
          <a:xfrm>
            <a:off x="8686800" y="557784"/>
            <a:ext cx="2590769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defRPr sz="880" b="1">
                <a:latin typeface="Roboto"/>
                <a:ea typeface="Roboto"/>
                <a:cs typeface="Roboto"/>
              </a:defRPr>
            </a:pPr>
            <a:r>
              <a:rPr sz="880" b="1" i="0" spc="100">
                <a:solidFill>
                  <a:srgbClr val="AAA16F"/>
                </a:solidFill>
                <a:latin typeface="Roboto"/>
                <a:ea typeface="Roboto"/>
                <a:cs typeface="Roboto"/>
              </a:rPr>
              <a:t>P</a:t>
            </a:r>
          </a:p>
        </p:txBody>
      </p:sp>
      <p:sp>
        <p:nvSpPr>
          <p:cNvPr id="5" name="Reporting date"/>
          <p:cNvSpPr txBox="1"/>
          <p:nvPr/>
        </p:nvSpPr>
        <p:spPr>
          <a:xfrm>
            <a:off x="8686800" y="813816"/>
            <a:ext cx="2590769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defRPr sz="1080" b="0">
                <a:latin typeface="Roboto"/>
                <a:ea typeface="Roboto"/>
                <a:cs typeface="Roboto"/>
              </a:defRPr>
            </a:pPr>
            <a:r>
              <a:rPr sz="1080" b="0" i="0">
                <a:solidFill>
                  <a:srgbClr val="4A4650"/>
                </a:solidFill>
                <a:latin typeface="Roboto"/>
                <a:ea typeface="Roboto"/>
                <a:cs typeface="Roboto"/>
              </a:rPr>
              <a:t>O</a:t>
            </a:r>
          </a:p>
        </p:txBody>
      </p:sp>
      <p:sp>
        <p:nvSpPr>
          <p:cNvPr id="6" name="Workstream header"/>
          <p:cNvSpPr txBox="1"/>
          <p:nvPr/>
        </p:nvSpPr>
        <p:spPr>
          <a:xfrm>
            <a:off x="1060704" y="1362456"/>
            <a:ext cx="1664208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defRPr sz="1060" b="0">
                <a:latin typeface="Merriweather Black"/>
                <a:ea typeface="Merriweather Black"/>
                <a:cs typeface="Merriweather Black"/>
              </a:defRPr>
            </a:pPr>
            <a:r>
              <a:rPr sz="1060" b="0" i="0">
                <a:solidFill>
                  <a:srgbClr val="3E173E"/>
                </a:solidFill>
                <a:latin typeface="Merriweather Black"/>
                <a:ea typeface="Merriweather Black"/>
                <a:cs typeface="Merriweather Black"/>
              </a:rPr>
              <a:t>W</a:t>
            </a:r>
          </a:p>
        </p:txBody>
      </p:sp>
      <p:sp>
        <p:nvSpPr>
          <p:cNvPr id="7" name="Deliverable header"/>
          <p:cNvSpPr txBox="1"/>
          <p:nvPr/>
        </p:nvSpPr>
        <p:spPr>
          <a:xfrm>
            <a:off x="2971800" y="1362456"/>
            <a:ext cx="20116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defRPr sz="1060" b="0">
                <a:latin typeface="Merriweather Black"/>
                <a:ea typeface="Merriweather Black"/>
                <a:cs typeface="Merriweather Black"/>
              </a:defRPr>
            </a:pPr>
            <a:r>
              <a:rPr sz="1060" b="0" i="0">
                <a:solidFill>
                  <a:srgbClr val="3E173E"/>
                </a:solidFill>
                <a:latin typeface="Merriweather Black"/>
                <a:ea typeface="Merriweather Black"/>
                <a:cs typeface="Merriweather Black"/>
              </a:rPr>
              <a:t>D</a:t>
            </a:r>
          </a:p>
        </p:txBody>
      </p:sp>
      <p:sp>
        <p:nvSpPr>
          <p:cNvPr id="8" name="Status header"/>
          <p:cNvSpPr txBox="1"/>
          <p:nvPr/>
        </p:nvSpPr>
        <p:spPr>
          <a:xfrm>
            <a:off x="5010912" y="1362456"/>
            <a:ext cx="6400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defRPr sz="1060" b="0">
                <a:latin typeface="Merriweather Black"/>
                <a:ea typeface="Merriweather Black"/>
                <a:cs typeface="Merriweather Black"/>
              </a:defRPr>
            </a:pPr>
            <a:r>
              <a:rPr sz="1060" b="0" i="0">
                <a:solidFill>
                  <a:srgbClr val="3E173E"/>
                </a:solidFill>
                <a:latin typeface="Merriweather Black"/>
                <a:ea typeface="Merriweather Black"/>
                <a:cs typeface="Merriweather Black"/>
              </a:rPr>
              <a:t>S</a:t>
            </a:r>
          </a:p>
        </p:txBody>
      </p:sp>
      <p:sp>
        <p:nvSpPr>
          <p:cNvPr id="9" name="Commentary header"/>
          <p:cNvSpPr txBox="1"/>
          <p:nvPr/>
        </p:nvSpPr>
        <p:spPr>
          <a:xfrm>
            <a:off x="5696712" y="1362456"/>
            <a:ext cx="5580888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defRPr sz="1060" b="0">
                <a:latin typeface="Merriweather Black"/>
                <a:ea typeface="Merriweather Black"/>
                <a:cs typeface="Merriweather Black"/>
              </a:defRPr>
            </a:pPr>
            <a:r>
              <a:rPr sz="1060" b="0" i="0">
                <a:solidFill>
                  <a:srgbClr val="3E173E"/>
                </a:solidFill>
                <a:latin typeface="Merriweather Black"/>
                <a:ea typeface="Merriweather Black"/>
                <a:cs typeface="Merriweather Black"/>
              </a:rPr>
              <a:t>C</a:t>
            </a:r>
          </a:p>
        </p:txBody>
      </p:sp>
      <p:cxnSp>
        <p:nvCxnSpPr>
          <p:cNvPr id="10" name="Table header divider"/>
          <p:cNvCxnSpPr/>
          <p:nvPr/>
        </p:nvCxnSpPr>
        <p:spPr>
          <a:xfrm>
            <a:off x="914400" y="1682496"/>
            <a:ext cx="10363200" cy="0"/>
          </a:xfrm>
          <a:prstGeom prst="line">
            <a:avLst/>
          </a:prstGeom>
          <a:ln w="11430">
            <a:solidFill>
              <a:srgbClr val="AAA1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oup panel 1"/>
          <p:cNvSpPr/>
          <p:nvPr/>
        </p:nvSpPr>
        <p:spPr>
          <a:xfrm>
            <a:off x="914400" y="1796796"/>
            <a:ext cx="1883664" cy="1620316"/>
          </a:xfrm>
          <a:prstGeom prst="rect">
            <a:avLst/>
          </a:prstGeom>
          <a:solidFill>
            <a:srgbClr val="F3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Workstream 1"/>
          <p:cNvSpPr txBox="1"/>
          <p:nvPr/>
        </p:nvSpPr>
        <p:spPr>
          <a:xfrm>
            <a:off x="1060704" y="1851660"/>
            <a:ext cx="1609344" cy="1510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205" b="0">
                <a:latin typeface="Merriweather Black"/>
                <a:ea typeface="Merriweather Black"/>
                <a:cs typeface="Merriweather Black"/>
              </a:defRPr>
            </a:pPr>
            <a:r>
              <a:rPr sz="1205" b="0" i="0">
                <a:solidFill>
                  <a:srgbClr val="3E173E"/>
                </a:solidFill>
                <a:latin typeface="Merriweather Black"/>
                <a:ea typeface="Merriweather Black"/>
                <a:cs typeface="Merriweather Black"/>
              </a:rPr>
              <a:t>F</a:t>
            </a:r>
          </a:p>
        </p:txBody>
      </p:sp>
      <p:sp>
        <p:nvSpPr>
          <p:cNvPr id="13" name="Deliverable 1.1"/>
          <p:cNvSpPr txBox="1"/>
          <p:nvPr/>
        </p:nvSpPr>
        <p:spPr>
          <a:xfrm>
            <a:off x="2971800" y="1833372"/>
            <a:ext cx="2020824" cy="33192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defRPr sz="1240" b="0">
                <a:latin typeface="Roboto"/>
                <a:ea typeface="Roboto"/>
                <a:cs typeface="Roboto"/>
              </a:defRPr>
            </a:pPr>
            <a:r>
              <a:rPr sz="1240" b="0" i="0">
                <a:solidFill>
                  <a:srgbClr val="4A4650"/>
                </a:solidFill>
                <a:latin typeface="Roboto"/>
                <a:ea typeface="Roboto"/>
                <a:cs typeface="Roboto"/>
              </a:rPr>
              <a:t>S</a:t>
            </a:r>
          </a:p>
        </p:txBody>
      </p:sp>
      <p:sp>
        <p:nvSpPr>
          <p:cNvPr id="14" name="Status Structure"/>
          <p:cNvSpPr/>
          <p:nvPr/>
        </p:nvSpPr>
        <p:spPr>
          <a:xfrm>
            <a:off x="5264658" y="1933041"/>
            <a:ext cx="132588" cy="132588"/>
          </a:xfrm>
          <a:prstGeom prst="ellipse">
            <a:avLst/>
          </a:prstGeom>
          <a:solidFill>
            <a:srgbClr val="34A2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mmentary Structure"/>
          <p:cNvSpPr txBox="1"/>
          <p:nvPr/>
        </p:nvSpPr>
        <p:spPr>
          <a:xfrm>
            <a:off x="5696712" y="1828800"/>
            <a:ext cx="5558028" cy="34107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defRPr sz="1140" b="0">
                <a:latin typeface="Roboto"/>
                <a:ea typeface="Roboto"/>
                <a:cs typeface="Roboto"/>
              </a:defRPr>
            </a:pPr>
            <a:r>
              <a:rPr sz="1140" b="0" i="0">
                <a:solidFill>
                  <a:srgbClr val="8B8890"/>
                </a:solidFill>
                <a:latin typeface="Roboto"/>
                <a:ea typeface="Roboto"/>
                <a:cs typeface="Roboto"/>
              </a:rPr>
              <a:t>T</a:t>
            </a:r>
          </a:p>
        </p:txBody>
      </p:sp>
      <p:cxnSp>
        <p:nvCxnSpPr>
          <p:cNvPr id="16" name="Row divider 1.1"/>
          <p:cNvCxnSpPr/>
          <p:nvPr/>
        </p:nvCxnSpPr>
        <p:spPr>
          <a:xfrm>
            <a:off x="2971800" y="2201875"/>
            <a:ext cx="8305800" cy="0"/>
          </a:xfrm>
          <a:prstGeom prst="line">
            <a:avLst/>
          </a:prstGeom>
          <a:ln w="5715">
            <a:solidFill>
              <a:srgbClr val="E9E6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eliverable 1.2"/>
          <p:cNvSpPr txBox="1"/>
          <p:nvPr/>
        </p:nvSpPr>
        <p:spPr>
          <a:xfrm>
            <a:off x="2971800" y="2238451"/>
            <a:ext cx="2020824" cy="33192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defRPr sz="1240" b="0">
                <a:latin typeface="Roboto"/>
                <a:ea typeface="Roboto"/>
                <a:cs typeface="Roboto"/>
              </a:defRPr>
            </a:pPr>
            <a:r>
              <a:rPr sz="1240" b="0" i="0">
                <a:solidFill>
                  <a:srgbClr val="4A4650"/>
                </a:solidFill>
                <a:latin typeface="Roboto"/>
                <a:ea typeface="Roboto"/>
                <a:cs typeface="Roboto"/>
              </a:rPr>
              <a:t>B</a:t>
            </a:r>
          </a:p>
        </p:txBody>
      </p:sp>
      <p:sp>
        <p:nvSpPr>
          <p:cNvPr id="18" name="Status 2026B"/>
          <p:cNvSpPr/>
          <p:nvPr/>
        </p:nvSpPr>
        <p:spPr>
          <a:xfrm>
            <a:off x="5264658" y="2338120"/>
            <a:ext cx="132588" cy="132588"/>
          </a:xfrm>
          <a:prstGeom prst="ellipse">
            <a:avLst/>
          </a:prstGeom>
          <a:solidFill>
            <a:srgbClr val="D9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mmentary 2026B"/>
          <p:cNvSpPr txBox="1"/>
          <p:nvPr/>
        </p:nvSpPr>
        <p:spPr>
          <a:xfrm>
            <a:off x="5696712" y="2233879"/>
            <a:ext cx="5558028" cy="34107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defRPr sz="1140" b="0">
                <a:latin typeface="Roboto"/>
                <a:ea typeface="Roboto"/>
                <a:cs typeface="Roboto"/>
              </a:defRPr>
            </a:pPr>
            <a:r>
              <a:rPr sz="1140" b="0" i="0">
                <a:solidFill>
                  <a:srgbClr val="8B8890"/>
                </a:solidFill>
                <a:latin typeface="Roboto"/>
                <a:ea typeface="Roboto"/>
                <a:cs typeface="Roboto"/>
              </a:rPr>
              <a:t>T</a:t>
            </a:r>
          </a:p>
        </p:txBody>
      </p:sp>
      <p:cxnSp>
        <p:nvCxnSpPr>
          <p:cNvPr id="20" name="Row divider 1.2"/>
          <p:cNvCxnSpPr/>
          <p:nvPr/>
        </p:nvCxnSpPr>
        <p:spPr>
          <a:xfrm>
            <a:off x="2971800" y="2606954"/>
            <a:ext cx="8305800" cy="0"/>
          </a:xfrm>
          <a:prstGeom prst="line">
            <a:avLst/>
          </a:prstGeom>
          <a:ln w="5715">
            <a:solidFill>
              <a:srgbClr val="E9E6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eliverable 1.3"/>
          <p:cNvSpPr txBox="1"/>
          <p:nvPr/>
        </p:nvSpPr>
        <p:spPr>
          <a:xfrm>
            <a:off x="2971800" y="2643530"/>
            <a:ext cx="2020824" cy="33192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defRPr sz="1240" b="0">
                <a:latin typeface="Roboto"/>
                <a:ea typeface="Roboto"/>
                <a:cs typeface="Roboto"/>
              </a:defRPr>
            </a:pPr>
            <a:r>
              <a:rPr sz="1240" b="0" i="0">
                <a:solidFill>
                  <a:srgbClr val="4A4650"/>
                </a:solidFill>
                <a:latin typeface="Roboto"/>
                <a:ea typeface="Roboto"/>
                <a:cs typeface="Roboto"/>
              </a:rPr>
              <a:t>B</a:t>
            </a:r>
          </a:p>
        </p:txBody>
      </p:sp>
      <p:sp>
        <p:nvSpPr>
          <p:cNvPr id="22" name="Status 2027B"/>
          <p:cNvSpPr/>
          <p:nvPr/>
        </p:nvSpPr>
        <p:spPr>
          <a:xfrm>
            <a:off x="5264658" y="2743200"/>
            <a:ext cx="132588" cy="132588"/>
          </a:xfrm>
          <a:prstGeom prst="ellipse">
            <a:avLst/>
          </a:prstGeom>
          <a:solidFill>
            <a:srgbClr val="E2B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mmentary 2027B"/>
          <p:cNvSpPr txBox="1"/>
          <p:nvPr/>
        </p:nvSpPr>
        <p:spPr>
          <a:xfrm>
            <a:off x="5696712" y="2638958"/>
            <a:ext cx="5558028" cy="34107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defRPr sz="1140" b="0">
                <a:latin typeface="Roboto"/>
                <a:ea typeface="Roboto"/>
                <a:cs typeface="Roboto"/>
              </a:defRPr>
            </a:pPr>
            <a:r>
              <a:rPr sz="1140" b="0" i="0">
                <a:solidFill>
                  <a:srgbClr val="8B8890"/>
                </a:solidFill>
                <a:latin typeface="Roboto"/>
                <a:ea typeface="Roboto"/>
                <a:cs typeface="Roboto"/>
              </a:rPr>
              <a:t>T</a:t>
            </a:r>
          </a:p>
        </p:txBody>
      </p:sp>
      <p:cxnSp>
        <p:nvCxnSpPr>
          <p:cNvPr id="24" name="Row divider 1.3"/>
          <p:cNvCxnSpPr/>
          <p:nvPr/>
        </p:nvCxnSpPr>
        <p:spPr>
          <a:xfrm>
            <a:off x="2971800" y="3012033"/>
            <a:ext cx="8305800" cy="0"/>
          </a:xfrm>
          <a:prstGeom prst="line">
            <a:avLst/>
          </a:prstGeom>
          <a:ln w="5715">
            <a:solidFill>
              <a:srgbClr val="E9E6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Deliverable 1.4"/>
          <p:cNvSpPr txBox="1"/>
          <p:nvPr/>
        </p:nvSpPr>
        <p:spPr>
          <a:xfrm>
            <a:off x="2971800" y="3048609"/>
            <a:ext cx="2020824" cy="33192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defRPr sz="1240" b="0">
                <a:latin typeface="Roboto"/>
                <a:ea typeface="Roboto"/>
                <a:cs typeface="Roboto"/>
              </a:defRPr>
            </a:pPr>
            <a:r>
              <a:rPr sz="1240" b="0" i="0">
                <a:solidFill>
                  <a:srgbClr val="4A4650"/>
                </a:solidFill>
                <a:latin typeface="Roboto"/>
                <a:ea typeface="Roboto"/>
                <a:cs typeface="Roboto"/>
              </a:rPr>
              <a:t>Y</a:t>
            </a:r>
          </a:p>
        </p:txBody>
      </p:sp>
      <p:sp>
        <p:nvSpPr>
          <p:cNvPr id="26" name="Status 5-Year Business Plan"/>
          <p:cNvSpPr/>
          <p:nvPr/>
        </p:nvSpPr>
        <p:spPr>
          <a:xfrm>
            <a:off x="5264658" y="3148279"/>
            <a:ext cx="132588" cy="132588"/>
          </a:xfrm>
          <a:prstGeom prst="ellipse">
            <a:avLst/>
          </a:prstGeom>
          <a:solidFill>
            <a:srgbClr val="D9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ommentary 5-Year Business Plan"/>
          <p:cNvSpPr txBox="1"/>
          <p:nvPr/>
        </p:nvSpPr>
        <p:spPr>
          <a:xfrm>
            <a:off x="5696712" y="3044037"/>
            <a:ext cx="5558028" cy="34107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defRPr sz="1140" b="0">
                <a:latin typeface="Roboto"/>
                <a:ea typeface="Roboto"/>
                <a:cs typeface="Roboto"/>
              </a:defRPr>
            </a:pPr>
            <a:r>
              <a:rPr sz="1140" b="0" i="0">
                <a:solidFill>
                  <a:srgbClr val="8B8890"/>
                </a:solidFill>
                <a:latin typeface="Roboto"/>
                <a:ea typeface="Roboto"/>
                <a:cs typeface="Roboto"/>
              </a:rPr>
              <a:t>T</a:t>
            </a:r>
          </a:p>
        </p:txBody>
      </p:sp>
      <p:sp>
        <p:nvSpPr>
          <p:cNvPr id="28" name="Group panel 2"/>
          <p:cNvSpPr/>
          <p:nvPr/>
        </p:nvSpPr>
        <p:spPr>
          <a:xfrm>
            <a:off x="914400" y="3513124"/>
            <a:ext cx="1883664" cy="810158"/>
          </a:xfrm>
          <a:prstGeom prst="rect">
            <a:avLst/>
          </a:prstGeom>
          <a:solidFill>
            <a:srgbClr val="F3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Workstream 2"/>
          <p:cNvSpPr txBox="1"/>
          <p:nvPr/>
        </p:nvSpPr>
        <p:spPr>
          <a:xfrm>
            <a:off x="1060704" y="3567988"/>
            <a:ext cx="1609344" cy="70043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205" b="0">
                <a:latin typeface="Merriweather Black"/>
                <a:ea typeface="Merriweather Black"/>
                <a:cs typeface="Merriweather Black"/>
              </a:defRPr>
            </a:pPr>
            <a:r>
              <a:rPr sz="1205" b="0" i="0">
                <a:solidFill>
                  <a:srgbClr val="3E173E"/>
                </a:solidFill>
                <a:latin typeface="Merriweather Black"/>
                <a:ea typeface="Merriweather Black"/>
                <a:cs typeface="Merriweather Black"/>
              </a:rPr>
              <a:t>D</a:t>
            </a:r>
          </a:p>
        </p:txBody>
      </p:sp>
      <p:sp>
        <p:nvSpPr>
          <p:cNvPr id="30" name="Deliverable 2.1"/>
          <p:cNvSpPr txBox="1"/>
          <p:nvPr/>
        </p:nvSpPr>
        <p:spPr>
          <a:xfrm>
            <a:off x="2971800" y="3549700"/>
            <a:ext cx="2020824" cy="33192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defRPr sz="1240" b="0">
                <a:latin typeface="Roboto"/>
                <a:ea typeface="Roboto"/>
                <a:cs typeface="Roboto"/>
              </a:defRPr>
            </a:pPr>
            <a:r>
              <a:rPr sz="1240" b="0" i="0">
                <a:solidFill>
                  <a:srgbClr val="4A4650"/>
                </a:solidFill>
                <a:latin typeface="Roboto"/>
                <a:ea typeface="Roboto"/>
                <a:cs typeface="Roboto"/>
              </a:rPr>
              <a:t>D</a:t>
            </a:r>
          </a:p>
        </p:txBody>
      </p:sp>
      <p:sp>
        <p:nvSpPr>
          <p:cNvPr id="31" name="Status Data Cube"/>
          <p:cNvSpPr/>
          <p:nvPr/>
        </p:nvSpPr>
        <p:spPr>
          <a:xfrm>
            <a:off x="5264658" y="3649370"/>
            <a:ext cx="132588" cy="132588"/>
          </a:xfrm>
          <a:prstGeom prst="ellipse">
            <a:avLst/>
          </a:prstGeom>
          <a:solidFill>
            <a:srgbClr val="F09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mmentary Data Cube"/>
          <p:cNvSpPr txBox="1"/>
          <p:nvPr/>
        </p:nvSpPr>
        <p:spPr>
          <a:xfrm>
            <a:off x="5696712" y="3545128"/>
            <a:ext cx="5558028" cy="34107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defRPr sz="1140" b="0">
                <a:latin typeface="Roboto"/>
                <a:ea typeface="Roboto"/>
                <a:cs typeface="Roboto"/>
              </a:defRPr>
            </a:pPr>
            <a:r>
              <a:rPr sz="1140" b="0" i="0">
                <a:solidFill>
                  <a:srgbClr val="8B8890"/>
                </a:solidFill>
                <a:latin typeface="Roboto"/>
                <a:ea typeface="Roboto"/>
                <a:cs typeface="Roboto"/>
              </a:rPr>
              <a:t>T</a:t>
            </a:r>
          </a:p>
        </p:txBody>
      </p:sp>
      <p:cxnSp>
        <p:nvCxnSpPr>
          <p:cNvPr id="33" name="Row divider 2.1"/>
          <p:cNvCxnSpPr/>
          <p:nvPr/>
        </p:nvCxnSpPr>
        <p:spPr>
          <a:xfrm>
            <a:off x="2971800" y="3918204"/>
            <a:ext cx="8305800" cy="0"/>
          </a:xfrm>
          <a:prstGeom prst="line">
            <a:avLst/>
          </a:prstGeom>
          <a:ln w="5715">
            <a:solidFill>
              <a:srgbClr val="E9E6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Deliverable 2.2"/>
          <p:cNvSpPr txBox="1"/>
          <p:nvPr/>
        </p:nvSpPr>
        <p:spPr>
          <a:xfrm>
            <a:off x="2971800" y="3954780"/>
            <a:ext cx="2020824" cy="33192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defRPr sz="1240" b="0">
                <a:latin typeface="Roboto"/>
                <a:ea typeface="Roboto"/>
                <a:cs typeface="Roboto"/>
              </a:defRPr>
            </a:pPr>
            <a:r>
              <a:rPr sz="1240" b="0" i="0">
                <a:solidFill>
                  <a:srgbClr val="4A4650"/>
                </a:solidFill>
                <a:latin typeface="Roboto"/>
                <a:ea typeface="Roboto"/>
                <a:cs typeface="Roboto"/>
              </a:rPr>
              <a:t>C</a:t>
            </a:r>
          </a:p>
        </p:txBody>
      </p:sp>
      <p:sp>
        <p:nvSpPr>
          <p:cNvPr id="35" name="Status Customer Cube"/>
          <p:cNvSpPr/>
          <p:nvPr/>
        </p:nvSpPr>
        <p:spPr>
          <a:xfrm>
            <a:off x="5264658" y="4054449"/>
            <a:ext cx="132588" cy="132588"/>
          </a:xfrm>
          <a:prstGeom prst="ellipse">
            <a:avLst/>
          </a:prstGeom>
          <a:solidFill>
            <a:srgbClr val="E2B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mmentary Customer Cube"/>
          <p:cNvSpPr txBox="1"/>
          <p:nvPr/>
        </p:nvSpPr>
        <p:spPr>
          <a:xfrm>
            <a:off x="5696712" y="3950208"/>
            <a:ext cx="5558028" cy="34107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defRPr sz="1140" b="0">
                <a:latin typeface="Roboto"/>
                <a:ea typeface="Roboto"/>
                <a:cs typeface="Roboto"/>
              </a:defRPr>
            </a:pPr>
            <a:r>
              <a:rPr sz="1140" b="0" i="0">
                <a:solidFill>
                  <a:srgbClr val="8B8890"/>
                </a:solidFill>
                <a:latin typeface="Roboto"/>
                <a:ea typeface="Roboto"/>
                <a:cs typeface="Roboto"/>
              </a:rPr>
              <a:t>T</a:t>
            </a:r>
          </a:p>
        </p:txBody>
      </p:sp>
      <p:sp>
        <p:nvSpPr>
          <p:cNvPr id="37" name="Group panel 3"/>
          <p:cNvSpPr/>
          <p:nvPr/>
        </p:nvSpPr>
        <p:spPr>
          <a:xfrm>
            <a:off x="914400" y="4419295"/>
            <a:ext cx="1883664" cy="810158"/>
          </a:xfrm>
          <a:prstGeom prst="rect">
            <a:avLst/>
          </a:prstGeom>
          <a:solidFill>
            <a:srgbClr val="F3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Workstream 3"/>
          <p:cNvSpPr txBox="1"/>
          <p:nvPr/>
        </p:nvSpPr>
        <p:spPr>
          <a:xfrm>
            <a:off x="1060704" y="4474159"/>
            <a:ext cx="1609344" cy="70043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205" b="0">
                <a:latin typeface="Merriweather Black"/>
                <a:ea typeface="Merriweather Black"/>
                <a:cs typeface="Merriweather Black"/>
              </a:defRPr>
            </a:pPr>
            <a:r>
              <a:rPr sz="1205" b="0" i="0">
                <a:solidFill>
                  <a:srgbClr val="3E173E"/>
                </a:solidFill>
                <a:latin typeface="Merriweather Black"/>
                <a:ea typeface="Merriweather Black"/>
                <a:cs typeface="Merriweather Black"/>
              </a:rPr>
              <a:t>T</a:t>
            </a:r>
          </a:p>
        </p:txBody>
      </p:sp>
      <p:sp>
        <p:nvSpPr>
          <p:cNvPr id="39" name="Deliverable 3.1"/>
          <p:cNvSpPr txBox="1"/>
          <p:nvPr/>
        </p:nvSpPr>
        <p:spPr>
          <a:xfrm>
            <a:off x="2971800" y="4455871"/>
            <a:ext cx="2020824" cy="33192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defRPr sz="1240" b="0">
                <a:latin typeface="Roboto"/>
                <a:ea typeface="Roboto"/>
                <a:cs typeface="Roboto"/>
              </a:defRPr>
            </a:pPr>
            <a:r>
              <a:rPr sz="1240" b="0" i="0">
                <a:solidFill>
                  <a:srgbClr val="4A4650"/>
                </a:solidFill>
                <a:latin typeface="Roboto"/>
                <a:ea typeface="Roboto"/>
                <a:cs typeface="Roboto"/>
              </a:rPr>
              <a:t>Q</a:t>
            </a:r>
          </a:p>
        </p:txBody>
      </p:sp>
      <p:sp>
        <p:nvSpPr>
          <p:cNvPr id="40" name="Status QoE Roll-forward (9/30)"/>
          <p:cNvSpPr/>
          <p:nvPr/>
        </p:nvSpPr>
        <p:spPr>
          <a:xfrm>
            <a:off x="5264658" y="4555540"/>
            <a:ext cx="132588" cy="132588"/>
          </a:xfrm>
          <a:prstGeom prst="ellipse">
            <a:avLst/>
          </a:prstGeom>
          <a:solidFill>
            <a:srgbClr val="E2B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ommentary QoE Roll-forward (9/30)"/>
          <p:cNvSpPr txBox="1"/>
          <p:nvPr/>
        </p:nvSpPr>
        <p:spPr>
          <a:xfrm>
            <a:off x="5696712" y="4451299"/>
            <a:ext cx="5558028" cy="34107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defRPr sz="1140" b="0">
                <a:latin typeface="Roboto"/>
                <a:ea typeface="Roboto"/>
                <a:cs typeface="Roboto"/>
              </a:defRPr>
            </a:pPr>
            <a:r>
              <a:rPr sz="1140" b="0" i="0">
                <a:solidFill>
                  <a:srgbClr val="8B8890"/>
                </a:solidFill>
                <a:latin typeface="Roboto"/>
                <a:ea typeface="Roboto"/>
                <a:cs typeface="Roboto"/>
              </a:rPr>
              <a:t>T</a:t>
            </a:r>
          </a:p>
        </p:txBody>
      </p:sp>
      <p:cxnSp>
        <p:nvCxnSpPr>
          <p:cNvPr id="42" name="Row divider 3.1"/>
          <p:cNvCxnSpPr/>
          <p:nvPr/>
        </p:nvCxnSpPr>
        <p:spPr>
          <a:xfrm>
            <a:off x="2971800" y="4824374"/>
            <a:ext cx="8305800" cy="0"/>
          </a:xfrm>
          <a:prstGeom prst="line">
            <a:avLst/>
          </a:prstGeom>
          <a:ln w="5715">
            <a:solidFill>
              <a:srgbClr val="E9E6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Deliverable 3.2"/>
          <p:cNvSpPr txBox="1"/>
          <p:nvPr/>
        </p:nvSpPr>
        <p:spPr>
          <a:xfrm>
            <a:off x="2971800" y="4860950"/>
            <a:ext cx="2020824" cy="33192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defRPr sz="1240" b="0">
                <a:latin typeface="Roboto"/>
                <a:ea typeface="Roboto"/>
                <a:cs typeface="Roboto"/>
              </a:defRPr>
            </a:pPr>
            <a:r>
              <a:rPr sz="1240" b="0" i="0">
                <a:solidFill>
                  <a:srgbClr val="4A4650"/>
                </a:solidFill>
                <a:latin typeface="Roboto"/>
                <a:ea typeface="Roboto"/>
                <a:cs typeface="Roboto"/>
              </a:rPr>
              <a:t>M</a:t>
            </a:r>
          </a:p>
        </p:txBody>
      </p:sp>
      <p:sp>
        <p:nvSpPr>
          <p:cNvPr id="44" name="Status Market Study"/>
          <p:cNvSpPr/>
          <p:nvPr/>
        </p:nvSpPr>
        <p:spPr>
          <a:xfrm>
            <a:off x="5264658" y="4960620"/>
            <a:ext cx="132588" cy="132588"/>
          </a:xfrm>
          <a:prstGeom prst="ellipse">
            <a:avLst/>
          </a:prstGeom>
          <a:solidFill>
            <a:srgbClr val="34A2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ommentary Market Study"/>
          <p:cNvSpPr txBox="1"/>
          <p:nvPr/>
        </p:nvSpPr>
        <p:spPr>
          <a:xfrm>
            <a:off x="5696712" y="4856378"/>
            <a:ext cx="5558028" cy="34107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defRPr sz="1140" b="0">
                <a:latin typeface="Roboto"/>
                <a:ea typeface="Roboto"/>
                <a:cs typeface="Roboto"/>
              </a:defRPr>
            </a:pPr>
            <a:r>
              <a:rPr sz="1140" b="0" i="0">
                <a:solidFill>
                  <a:srgbClr val="8B8890"/>
                </a:solidFill>
                <a:latin typeface="Roboto"/>
                <a:ea typeface="Roboto"/>
                <a:cs typeface="Roboto"/>
              </a:rPr>
              <a:t>T</a:t>
            </a:r>
          </a:p>
        </p:txBody>
      </p:sp>
      <p:sp>
        <p:nvSpPr>
          <p:cNvPr id="46" name="Group panel 4"/>
          <p:cNvSpPr/>
          <p:nvPr/>
        </p:nvSpPr>
        <p:spPr>
          <a:xfrm>
            <a:off x="914400" y="5325465"/>
            <a:ext cx="1883664" cy="810158"/>
          </a:xfrm>
          <a:prstGeom prst="rect">
            <a:avLst/>
          </a:prstGeom>
          <a:solidFill>
            <a:srgbClr val="F3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Workstream 4"/>
          <p:cNvSpPr txBox="1"/>
          <p:nvPr/>
        </p:nvSpPr>
        <p:spPr>
          <a:xfrm>
            <a:off x="1060704" y="5380329"/>
            <a:ext cx="1609344" cy="70043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205" b="0">
                <a:latin typeface="Merriweather Black"/>
                <a:ea typeface="Merriweather Black"/>
                <a:cs typeface="Merriweather Black"/>
              </a:defRPr>
            </a:pPr>
            <a:r>
              <a:rPr sz="1205" b="0" i="0">
                <a:solidFill>
                  <a:srgbClr val="3E173E"/>
                </a:solidFill>
                <a:latin typeface="Merriweather Black"/>
                <a:ea typeface="Merriweather Black"/>
                <a:cs typeface="Merriweather Black"/>
              </a:rPr>
              <a:t>M</a:t>
            </a:r>
          </a:p>
        </p:txBody>
      </p:sp>
      <p:sp>
        <p:nvSpPr>
          <p:cNvPr id="48" name="Deliverable 4.1"/>
          <p:cNvSpPr txBox="1"/>
          <p:nvPr/>
        </p:nvSpPr>
        <p:spPr>
          <a:xfrm>
            <a:off x="2971800" y="5362041"/>
            <a:ext cx="2020824" cy="33192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defRPr sz="1240" b="0">
                <a:latin typeface="Roboto"/>
                <a:ea typeface="Roboto"/>
                <a:cs typeface="Roboto"/>
              </a:defRPr>
            </a:pPr>
            <a:r>
              <a:rPr sz="1240" b="0" i="0">
                <a:solidFill>
                  <a:srgbClr val="4A4650"/>
                </a:solidFill>
                <a:latin typeface="Roboto"/>
                <a:ea typeface="Roboto"/>
                <a:cs typeface="Roboto"/>
              </a:rPr>
              <a:t>C</a:t>
            </a:r>
          </a:p>
        </p:txBody>
      </p:sp>
      <p:sp>
        <p:nvSpPr>
          <p:cNvPr id="49" name="Status CIP"/>
          <p:cNvSpPr/>
          <p:nvPr/>
        </p:nvSpPr>
        <p:spPr>
          <a:xfrm>
            <a:off x="5264658" y="5461711"/>
            <a:ext cx="132588" cy="132588"/>
          </a:xfrm>
          <a:prstGeom prst="ellipse">
            <a:avLst/>
          </a:prstGeom>
          <a:solidFill>
            <a:srgbClr val="E2B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ommentary CIP"/>
          <p:cNvSpPr txBox="1"/>
          <p:nvPr/>
        </p:nvSpPr>
        <p:spPr>
          <a:xfrm>
            <a:off x="5696712" y="5357469"/>
            <a:ext cx="5558028" cy="34107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defRPr sz="1140" b="0">
                <a:latin typeface="Roboto"/>
                <a:ea typeface="Roboto"/>
                <a:cs typeface="Roboto"/>
              </a:defRPr>
            </a:pPr>
            <a:r>
              <a:rPr sz="1140" b="0" i="0">
                <a:solidFill>
                  <a:srgbClr val="8B8890"/>
                </a:solidFill>
                <a:latin typeface="Roboto"/>
                <a:ea typeface="Roboto"/>
                <a:cs typeface="Roboto"/>
              </a:rPr>
              <a:t>T</a:t>
            </a:r>
          </a:p>
        </p:txBody>
      </p:sp>
      <p:cxnSp>
        <p:nvCxnSpPr>
          <p:cNvPr id="51" name="Row divider 4.1"/>
          <p:cNvCxnSpPr/>
          <p:nvPr/>
        </p:nvCxnSpPr>
        <p:spPr>
          <a:xfrm>
            <a:off x="2971800" y="5730544"/>
            <a:ext cx="8305800" cy="0"/>
          </a:xfrm>
          <a:prstGeom prst="line">
            <a:avLst/>
          </a:prstGeom>
          <a:ln w="5715">
            <a:solidFill>
              <a:srgbClr val="E9E6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Deliverable 4.2"/>
          <p:cNvSpPr txBox="1"/>
          <p:nvPr/>
        </p:nvSpPr>
        <p:spPr>
          <a:xfrm>
            <a:off x="2971800" y="5767120"/>
            <a:ext cx="2020824" cy="33192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defRPr sz="1240" b="0">
                <a:latin typeface="Roboto"/>
                <a:ea typeface="Roboto"/>
                <a:cs typeface="Roboto"/>
              </a:defRPr>
            </a:pPr>
            <a:r>
              <a:rPr sz="1240" b="0" i="0">
                <a:solidFill>
                  <a:srgbClr val="4A4650"/>
                </a:solidFill>
                <a:latin typeface="Roboto"/>
                <a:ea typeface="Roboto"/>
                <a:cs typeface="Roboto"/>
              </a:rPr>
              <a:t>E</a:t>
            </a:r>
          </a:p>
        </p:txBody>
      </p:sp>
      <p:sp>
        <p:nvSpPr>
          <p:cNvPr id="53" name="Status Early Education"/>
          <p:cNvSpPr/>
          <p:nvPr/>
        </p:nvSpPr>
        <p:spPr>
          <a:xfrm>
            <a:off x="5264658" y="5866790"/>
            <a:ext cx="132588" cy="132588"/>
          </a:xfrm>
          <a:prstGeom prst="ellipse">
            <a:avLst/>
          </a:prstGeom>
          <a:solidFill>
            <a:srgbClr val="34A2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ommentary Early Education"/>
          <p:cNvSpPr txBox="1"/>
          <p:nvPr/>
        </p:nvSpPr>
        <p:spPr>
          <a:xfrm>
            <a:off x="5696712" y="5762548"/>
            <a:ext cx="5558028" cy="34107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defRPr sz="1140" b="0">
                <a:latin typeface="Roboto"/>
                <a:ea typeface="Roboto"/>
                <a:cs typeface="Roboto"/>
              </a:defRPr>
            </a:pPr>
            <a:r>
              <a:rPr sz="1140" b="0" i="0">
                <a:solidFill>
                  <a:srgbClr val="8B8890"/>
                </a:solidFill>
                <a:latin typeface="Roboto"/>
                <a:ea typeface="Roboto"/>
                <a:cs typeface="Roboto"/>
              </a:rPr>
              <a:t>T</a:t>
            </a:r>
          </a:p>
        </p:txBody>
      </p:sp>
      <p:cxnSp>
        <p:nvCxnSpPr>
          <p:cNvPr id="55" name="Table bottom divider"/>
          <p:cNvCxnSpPr/>
          <p:nvPr/>
        </p:nvCxnSpPr>
        <p:spPr>
          <a:xfrm>
            <a:off x="914400" y="6227063"/>
            <a:ext cx="10363200" cy="0"/>
          </a:xfrm>
          <a:prstGeom prst="line">
            <a:avLst/>
          </a:prstGeom>
          <a:ln w="5715">
            <a:solidFill>
              <a:srgbClr val="DCD7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Legend outstanding"/>
          <p:cNvSpPr txBox="1"/>
          <p:nvPr/>
        </p:nvSpPr>
        <p:spPr>
          <a:xfrm>
            <a:off x="7799831" y="6341364"/>
            <a:ext cx="777240" cy="19202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defRPr sz="930" b="0">
                <a:latin typeface="Roboto"/>
                <a:ea typeface="Roboto"/>
                <a:cs typeface="Roboto"/>
              </a:defRPr>
            </a:pPr>
            <a:r>
              <a:rPr sz="930" b="0" i="0">
                <a:solidFill>
                  <a:srgbClr val="4A4650"/>
                </a:solidFill>
                <a:latin typeface="Roboto"/>
                <a:ea typeface="Roboto"/>
                <a:cs typeface="Roboto"/>
              </a:rPr>
              <a:t>O</a:t>
            </a:r>
          </a:p>
        </p:txBody>
      </p:sp>
      <p:cxnSp>
        <p:nvCxnSpPr>
          <p:cNvPr id="57" name="Legend progression"/>
          <p:cNvCxnSpPr/>
          <p:nvPr/>
        </p:nvCxnSpPr>
        <p:spPr>
          <a:xfrm>
            <a:off x="8787384" y="6437376"/>
            <a:ext cx="1536192" cy="0"/>
          </a:xfrm>
          <a:prstGeom prst="line">
            <a:avLst/>
          </a:prstGeom>
          <a:ln w="8255">
            <a:solidFill>
              <a:srgbClr val="AAA1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Legend red"/>
          <p:cNvSpPr/>
          <p:nvPr/>
        </p:nvSpPr>
        <p:spPr>
          <a:xfrm>
            <a:off x="8721090" y="6371082"/>
            <a:ext cx="132588" cy="132588"/>
          </a:xfrm>
          <a:prstGeom prst="ellipse">
            <a:avLst/>
          </a:prstGeom>
          <a:solidFill>
            <a:srgbClr val="D9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Legend orange"/>
          <p:cNvSpPr/>
          <p:nvPr/>
        </p:nvSpPr>
        <p:spPr>
          <a:xfrm>
            <a:off x="9233154" y="6371082"/>
            <a:ext cx="132588" cy="132588"/>
          </a:xfrm>
          <a:prstGeom prst="ellipse">
            <a:avLst/>
          </a:prstGeom>
          <a:solidFill>
            <a:srgbClr val="F09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yellow"/>
          <p:cNvSpPr/>
          <p:nvPr/>
        </p:nvSpPr>
        <p:spPr>
          <a:xfrm>
            <a:off x="9745218" y="6371082"/>
            <a:ext cx="132588" cy="132588"/>
          </a:xfrm>
          <a:prstGeom prst="ellipse">
            <a:avLst/>
          </a:prstGeom>
          <a:solidFill>
            <a:srgbClr val="E2B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egend green"/>
          <p:cNvSpPr/>
          <p:nvPr/>
        </p:nvSpPr>
        <p:spPr>
          <a:xfrm>
            <a:off x="10257282" y="6371082"/>
            <a:ext cx="132588" cy="132588"/>
          </a:xfrm>
          <a:prstGeom prst="ellipse">
            <a:avLst/>
          </a:prstGeom>
          <a:solidFill>
            <a:srgbClr val="34A2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egend complete"/>
          <p:cNvSpPr txBox="1"/>
          <p:nvPr/>
        </p:nvSpPr>
        <p:spPr>
          <a:xfrm>
            <a:off x="10524744" y="6341364"/>
            <a:ext cx="749808" cy="19202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defRPr sz="930" b="0">
                <a:latin typeface="Roboto"/>
                <a:ea typeface="Roboto"/>
                <a:cs typeface="Roboto"/>
              </a:defRPr>
            </a:pPr>
            <a:r>
              <a:rPr sz="930" b="0" i="0">
                <a:solidFill>
                  <a:srgbClr val="4A4650"/>
                </a:solidFill>
                <a:latin typeface="Roboto"/>
                <a:ea typeface="Roboto"/>
                <a:cs typeface="Roboto"/>
              </a:rPr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3E173E"/>
      </a:accent1>
      <a:accent2>
        <a:srgbClr val="AAA16F"/>
      </a:accent2>
      <a:accent3>
        <a:srgbClr val="F3F2F5"/>
      </a:accent3>
      <a:accent4>
        <a:srgbClr val="4A465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Roboto"/>
        <a:cs typeface="Roboto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Roboto"/>
        <a:cs typeface="Roboto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3E173E"/>
      </a:accent1>
      <a:accent2>
        <a:srgbClr val="AAA16F"/>
      </a:accent2>
      <a:accent3>
        <a:srgbClr val="F3F2F5"/>
      </a:accent3>
      <a:accent4>
        <a:srgbClr val="4A465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Roboto"/>
        <a:cs typeface="Roboto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Roboto"/>
        <a:cs typeface="Roboto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 Format</dc:title>
  <dc:subject>Partner update | 26 October 2026</dc:subject>
  <dc:creator/>
  <cp:keywords>sell-side, execution, workstream, status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