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false">
  <p:sldMasterIdLst>
    <p:sldMasterId id="2147483648" r:id="rId1"/>
  </p:sldMasterIdLst>
  <p:sldIdLst>
    <p:sldId id="256" r:id="rId2"/>
    <p:sldId id="257" r:id="rId8"/>
    <p:sldId id="258" r:id="rId9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AND CAPACITY BASIS</a:t>
            </a:r>
          </a:p>
          <a:p>
            <a:r>
              <a:t>Rio Tinto response to ACCC, 21 June 2024, capacity table p5 and network map p3</a:t>
            </a:r>
          </a:p>
          <a:p>
            <a:r>
              <a:t>https://www.accc.gov.au/system/files/public-registers/documents/Response%20from%20Rio%20Tinto%20to%20ACCC%20Request%20for%20Information%20-%2021.06.24%20-%20PR%20VERSION%20-%20AA1000666%20Pilbara.pdf</a:t>
            </a:r>
          </a:p>
          <a:p>
            <a:r>
              <a:t>514 MW follows the capacity table: Yurralyi Maya 200, Paraburdoo 120, Cape Lambert 80, West Angelas 80 and Gudai-Darri solar 34 MW. The same filing's map shows Yurralyi Maya 230 MW; this public-source discrepancy remains unresolved. Values are a published reference portfolio, not a certified current title/capacity register or transaction perimeter.</a:t>
            </a:r>
          </a:p>
          <a:p>
            <a:r>
              <a:t>Rio Pilbara 2025 TRS, section 15.8: 790 km of 220 kV; 175 km of 132 kV; three switching stations; twelve bulk substations; 200-300 MW seasonal demand; limited 33 kV Horizon connections at Dampier and Cape Lambert</a:t>
            </a:r>
          </a:p>
          <a:p>
            <a:r>
              <a:t>https://www.sec.gov/Archives/edgar/data/863064/000162828026009531/ex_961xrtioxtrsx2025xfin.htm</a:t>
            </a:r>
          </a:p>
          <a:p>
            <a:r>
              <a:t>Rio Western Australia operating-system context: 18 mines; four terminals at two coastal complexes</a:t>
            </a:r>
          </a:p>
          <a:p>
            <a:r>
              <a:t>https://www.riotinto.com/en/operations/anz/western-australia</a:t>
            </a:r>
          </a:p>
          <a:p>
            <a:r>
              <a:t>Gudai-Darri solar local 33 kV tie, contractor disclosure</a:t>
            </a:r>
          </a:p>
          <a:p>
            <a:r>
              <a:t>https://nrwcivilmining.com.au/project/gudai-darri-solar-farm/</a:t>
            </a:r>
          </a:p>
          <a:p>
            <a:r>
              <a:t>Tom Price storage: existing BESS is a site context symbol, no MW/MWh assertion</a:t>
            </a:r>
          </a:p>
          <a:p>
            <a:r>
              <a:t>https://www.riotinto.com/news/stories/pilbara-renewables</a:t>
            </a:r>
          </a:p>
          <a:p>
            <a:r>
              <a:t>Rhodes Ridge future demand context</a:t>
            </a:r>
          </a:p>
          <a:p>
            <a:r>
              <a:t>https://www.riotinto.com/en/invest/reports/annual-report/key-project-updates</a:t>
            </a:r>
          </a:p>
          <a:p>
            <a:r>
              <a:t>MAP BASIS</a:t>
            </a:r>
          </a:p>
          <a:p>
            <a:r>
              <a:t>Generation coordinates carried from the source-reviewed prior deck: Yurralyi Maya -20.76271,116.74214; Paraburdoo -23.191952,117.677106; Cape Lambert -20.64969,117.14165; West Angelas -23.15444,118.72437; Gudai-Darri -22.5276,119.0937. Location references: https://mapcarta.com/W583492109 ; https://www.gem.wiki/Paraburdoo_power_station ; https://mapcarta.com/W762017450 ; https://mapcarta.com/W1361428718 ; https://www.gem.wiki/Gudai-Darri_solar_farm</a:t>
            </a:r>
          </a:p>
          <a:p>
            <a:r>
              <a:t>Routes are reprojected from the previous Rio-source-derived geometry. The 132 kV branch retains the source voltage class; the local 33 kV solar connection is separately styled. The Yandicoogina contextual marker is placed at the source-route endpoint; it does not locate every component of that mine. Additional load markers are generalized operating-area context, not substation coordinates. Nammuldi, Brockman 4, Hope Downs 1 and Hope Downs 4 location coordinates were rechecked against Global Energy Monitor's own public asset-location inventory: https://www.gem.wiki/Rio_Tinto_Nammuldi_%28Hamersley%29_Mine ; https://www.gem.wiki/Rio_Tinto_Brockman_4_%28Hamersley%29_Mine ; https://www.gem.wiki/Rio_Tinto_Hope_Downs_1_Mine ; https://www.gem.wiki/Rio_Tinto_Hope_Downs_4_Mine . The Hope Downs branch follows the south/east connection shown in Rio's map; it is generalized, not a surveyed route. The Nammuldi/Silvergrass label is a regional load-area label, not an assertion that both mines occupy the same coordinate. Coastal port symbols identify complexes, not individual terminals. Horizon interfaces are acknowledged as location-area text, not invented station coordinates. Storage symbol denotes the Tom Price operating area.</a:t>
            </a:r>
          </a:p>
          <a:p/>
          <a:p>
            <a:r>
              <a:t>HYBRID MAP ARCHITECTURE — 17 SEPTEMBER 2026</a:t>
            </a:r>
          </a:p>
          <a:p>
            <a:r>
              <a:t>This version supersedes prior map-editability claims. Each map contains exactly ONE embedded opaque RGB PNG at 600 dpi for the geographic base, coastline/lakes/rivers, transmission corridors, contextual site/load/port/storage symbols, short anchor leaders, locator geography and location-inset backgrounds. No editable shoreline, lake, river or transmission freeforms remain in the map panel. Only numbered circles, text/capacity labels, compact legend elements, scale bars and simple inset/legend borders are editable native PowerPoint objects. Map-base image placement is explicit and locked against accidental movement/resizing; overlays are in slide coordinates, not nested transforms.</a:t>
            </a:r>
          </a:p>
          <a:p>
            <a:r>
              <a:t>GEOGRAPHIC AND DESIGN LIMITATIONS</a:t>
            </a:r>
          </a:p>
          <a:p>
            <a:r>
              <a:t>Regional cartographic overview of generation, principal corridors and selected loads; not a surveyed map, complete electrical/hydraulic inventory, legal title exhibit or transaction perimeter. Projected points and generalized route geometry have different accuracy. Main-map scale is computed from the projection; the inset has its own scale. GSHHG intermediate-resolution polygons and WDBII context were distributed with Basemap; waterbody simplification does not certify full contemporary reservoir extents. Basemap attribution: https://www.soest.hawaii.edu/pwessel/gshhg/ and https://www.ngdc.noaa.gov/mgg/shorelines/shorelines.html . Locator geography: Natural Earth public-domain boundaries, https://www.naturalearthdata.com/ 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AND CAPACITY BASIS</a:t>
            </a:r>
          </a:p>
          <a:p>
            <a:r>
              <a:t>Rio Energie Electrique station inventory</a:t>
            </a:r>
          </a:p>
          <a:p>
            <a:r>
              <a:t>https://energie.riotinto.com/energie-electrique/installations/</a:t>
            </a:r>
          </a:p>
          <a:p>
            <a:r>
              <a:t>Shipshaw 947 + 225 MW = 1,172; Chute-des-Passes 833; Isle-Maligne 448; Chute-a-la-Savane 245; Chute-du-Diable 224; Chute-a-Caron 222. Table sums to 3,144 MW. Corporate Saguenay page separately cites 3,131 MW, hence the ~3.1 GW headline. Average output ~2.1 GW is a historical average equivalent, not firm capacity or a dated actual production figure.</a:t>
            </a:r>
          </a:p>
          <a:p>
            <a:r>
              <a:t>System overview: 884 km of lines, 33 dams/regulating structures, 44 groups, four Hydro-Quebec interfaces, approximately 90% of Quebec smelter electricity requirements</a:t>
            </a:r>
          </a:p>
          <a:p>
            <a:r>
              <a:t>https://energie.riotinto.com/energie-electrique/</a:t>
            </a:r>
          </a:p>
          <a:p>
            <a:r>
              <a:t>Watershed and upper-reservoir context</a:t>
            </a:r>
          </a:p>
          <a:p>
            <a:r>
              <a:t>https://energie.riotinto.com/gestion-hydrique/bassins-hydrographiques/</a:t>
            </a:r>
          </a:p>
          <a:p>
            <a:r>
              <a:t>Regional industrial loads</a:t>
            </a:r>
          </a:p>
          <a:p>
            <a:r>
              <a:t>https://www.riotinto.com/en/can/canada-operations/saguenay</a:t>
            </a:r>
          </a:p>
          <a:p>
            <a:r>
              <a:t>Isle-Maligne modernization</a:t>
            </a:r>
          </a:p>
          <a:p>
            <a:r>
              <a:t>https://www.riotinto.com/can/news/releases/2025/rio-tinto-invests-to-modernise-century-old-hydroelectric-power-plant-in-quebec</a:t>
            </a:r>
          </a:p>
          <a:p>
            <a:r>
              <a:t>Kemano context, excluded from Saguenay metrics</a:t>
            </a:r>
          </a:p>
          <a:p>
            <a:r>
              <a:t>https://www.riotinto.com/operations/canada/bc-works</a:t>
            </a:r>
          </a:p>
          <a:p>
            <a:r>
              <a:t>Transmission corridor source: Rio's 2025-28 vegetation-maintenance map, visually checked again for this revision</a:t>
            </a:r>
          </a:p>
          <a:p>
            <a:r>
              <a:t>https://energie.riotinto.com/wp-content/uploads/2025/04/carte-globale-annee-de-traitement-2025-a-2028-vegetation.pdf</a:t>
            </a:r>
          </a:p>
          <a:p>
            <a:r>
              <a:t>The source colors denote treatment years, NOT voltage classes. Routes here use one gold family; not an electrical single-line or full asset inventory. The Dolbeau-Mistassini branch is generalized from the same published source. No Hydro-Quebec interface or additional dam is arbitrarily pinned; those remain counted in the profile at right.</a:t>
            </a:r>
          </a:p>
          <a:p>
            <a:r>
              <a:t>MAP BASIS</a:t>
            </a:r>
          </a:p>
          <a:p>
            <a:r>
              <a:t>Generation coordinates carried from the prior sourced deck: Shipshaw 48.4483,-71.2153; Chute-des-Passes 49.84023,-71.16633; Isle-Maligne 48.57713,-71.63479; Savane 48.75353,-71.83964; Diable 48.7807,-71.69748; Caron 48.45065,-71.2538. Source location references: https://www.gem.wiki/Shipshaw_hydroelectric_plant ; https://mapcarta.com/W908822933 ; https://mapcarta.com/W143637579 ; https://mapcarta.com/fr/W184094773 ; https://mapcarta.com/W171599031 ; https://mapcarta.com/fr/W22819761</a:t>
            </a:r>
          </a:p>
          <a:p>
            <a:r>
              <a:t>Where main-map plant positions crowd, small source-coordinate points remain in the base and short leaders join editable numbered badges. The downstream inset uses its own local projection; Caron remains west of Shipshaw. It is a location-only detail, NOT a hydraulic channel or water-flow diagram. Alma and Arvida/AP60 are selected point loads, other labels are operating-area context. Capacity/profile fields outside the map are unchanged. Reservoir polygons are regional GSHHG reference outlines, not surveyed/current operating water levels.</a:t>
            </a:r>
          </a:p>
          <a:p/>
          <a:p>
            <a:r>
              <a:t>HYBRID MAP ARCHITECTURE — 17 SEPTEMBER 2026</a:t>
            </a:r>
          </a:p>
          <a:p>
            <a:r>
              <a:t>This version supersedes prior map-editability claims. Each map contains exactly ONE embedded opaque RGB PNG at 600 dpi for the geographic base, coastline/lakes/rivers, transmission corridors, contextual site/load/port/storage symbols, short anchor leaders, locator geography and location-inset backgrounds. No editable shoreline, lake, river or transmission freeforms remain in the map panel. Only numbered circles, text/capacity labels, compact legend elements, scale bars and simple inset/legend borders are editable native PowerPoint objects. Map-base image placement is explicit and locked against accidental movement/resizing; overlays are in slide coordinates, not nested transforms.</a:t>
            </a:r>
          </a:p>
          <a:p>
            <a:r>
              <a:t>GEOGRAPHIC AND DESIGN LIMITATIONS</a:t>
            </a:r>
          </a:p>
          <a:p>
            <a:r>
              <a:t>Regional cartographic overview of generation, principal corridors and selected loads; not a surveyed map, complete electrical/hydraulic inventory, legal title exhibit or transaction perimeter. Projected points and generalized route geometry have different accuracy. Main-map scale is computed from the projection; the inset has its own scale. GSHHG intermediate-resolution polygons and WDBII context were distributed with Basemap; waterbody simplification does not certify full contemporary reservoir extents. Basemap attribution: https://www.soest.hawaii.edu/pwessel/gshhg/ and https://www.ngdc.noaa.gov/mgg/shorelines/shorelines.html . Locator geography: Natural Earth public-domain boundaries, https://www.naturalearthdata.com/ 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https://www.accc.gov.au/system/files/public-registers/documents/Response%20from%20Rio%20Tinto%20to%20ACCC%20Request%20for%20Information%20-%2021.06.24%20-%20PR%20VERSION%20-%20AA1000666%20Pilbara.pdf" TargetMode="External"/><Relationship Id="rId2" Type="http://schemas.openxmlformats.org/officeDocument/2006/relationships/hyperlink" Target="https://www.sec.gov/Archives/edgar/data/863064/000162828026009531/ex_961xrtioxtrsx2025xfin.htm" TargetMode="External"/><Relationship Id="rId3" Type="http://schemas.openxmlformats.org/officeDocument/2006/relationships/hyperlink" Target="https://www.riotinto.com/en/operations/anz/western-australia" TargetMode="External"/><Relationship Id="rId4" Type="http://schemas.openxmlformats.org/officeDocument/2006/relationships/hyperlink" Target="https://www.riotinto.com/en/news/releases/2026/yindjibarndi-energy-reaches-financial-close-jinbi-solar-project-power-purchase-agreement-rio-tinto" TargetMode="External"/><Relationship Id="rId5" Type="http://schemas.openxmlformats.org/officeDocument/2006/relationships/hyperlink" Target="https://www.riotinto.com/en/invest/reports/annual-report/key-project-updates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Relationship Id="rId8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hyperlink" Target="https://www.accc.gov.au/system/files/public-registers/documents/Response%20from%20Rio%20Tinto%20to%20ACCC%20Request%20for%20Information%20-%2021.06.24%20-%20PR%20VERSION%20-%20AA1000666%20Pilbara.pdf" TargetMode="External"/><Relationship Id="rId2" Type="http://schemas.openxmlformats.org/officeDocument/2006/relationships/hyperlink" Target="https://www.sec.gov/Archives/edgar/data/863064/000162828026009531/ex_961xrtioxtrsx2025xfin.htm" TargetMode="External"/><Relationship Id="rId3" Type="http://schemas.openxmlformats.org/officeDocument/2006/relationships/hyperlink" Target="https://www.riotinto.com/en/operations/anz/western-australia" TargetMode="External"/><Relationship Id="rId4" Type="http://schemas.openxmlformats.org/officeDocument/2006/relationships/hyperlink" Target="https://www.riotinto.com/en/news/releases/2026/yindjibarndi-energy-reaches-financial-close-jinbi-solar-project-power-purchase-agreement-rio-tinto" TargetMode="External"/><Relationship Id="rId5" Type="http://schemas.openxmlformats.org/officeDocument/2006/relationships/hyperlink" Target="https://www.riotinto.com/en/invest/reports/annual-report/key-project-updates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Relationship Id="rId8" Type="http://schemas.openxmlformats.org/officeDocument/2006/relationships/hyperlink" Target="https://energie.riotinto.com/energie-electrique/installations/" TargetMode="External"/><Relationship Id="rId9" Type="http://schemas.openxmlformats.org/officeDocument/2006/relationships/hyperlink" Target="https://energie.riotinto.com/energie-electrique/" TargetMode="External"/><Relationship Id="rId10" Type="http://schemas.openxmlformats.org/officeDocument/2006/relationships/hyperlink" Target="https://energie.riotinto.com/gestion-hydrique/bassins-hydrographiques/" TargetMode="External"/><Relationship Id="rId11" Type="http://schemas.openxmlformats.org/officeDocument/2006/relationships/hyperlink" Target="https://www.riotinto.com/en/can/canada-operations/saguenay" TargetMode="External"/><Relationship Id="rId12" Type="http://schemas.openxmlformats.org/officeDocument/2006/relationships/hyperlink" Target="https://www.riotinto.com/can/news/releases/2025/rio-tinto-invests-to-modernise-century-old-hydroelectric-power-plant-in-quebec" TargetMode="External"/><Relationship Id="rId13" Type="http://schemas.openxmlformats.org/officeDocument/2006/relationships/hyperlink" Target="https://www.riotinto.com/operations/canada/bc-works" TargetMode="External"/><Relationship Id="rId14" Type="http://schemas.openxmlformats.org/officeDocument/2006/relationships/hyperlink" Target="https://energie.riotinto.com/wp-content/uploads/2025/04/carte-globale-annee-de-traitement-2025-a-2028-vegetation.pdf" TargetMode="External"/><Relationship Id="rId1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37160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30" kern="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TINTO  /  ASSET PROFILE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347472" y="365760"/>
            <a:ext cx="2999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Pilbara Power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16936" y="411480"/>
            <a:ext cx="0" cy="29260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108960" y="393192"/>
            <a:ext cx="8705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30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Integrated, mission-critical electricity platform</a:t>
            </a:r>
            <a:endParaRPr lang="en-US" sz="2130" dirty="0"/>
          </a:p>
        </p:txBody>
      </p:sp>
      <p:sp>
        <p:nvSpPr>
          <p:cNvPr id="6" name="Text 4"/>
          <p:cNvSpPr/>
          <p:nvPr/>
        </p:nvSpPr>
        <p:spPr>
          <a:xfrm>
            <a:off x="347472" y="822960"/>
            <a:ext cx="11494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5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Captive generation and transmission supporting inland mines, coastal ports and selected Pilbara communities</a:t>
            </a:r>
            <a:endParaRPr lang="en-US" sz="1135" dirty="0"/>
          </a:p>
        </p:txBody>
      </p:sp>
      <p:sp>
        <p:nvSpPr>
          <p:cNvPr id="7" name="Text 5"/>
          <p:cNvSpPr/>
          <p:nvPr/>
        </p:nvSpPr>
        <p:spPr>
          <a:xfrm>
            <a:off x="9747504" y="146304"/>
            <a:ext cx="2093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spc="50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PUBLIC-SOURCE PROFILE</a:t>
            </a:r>
            <a:endParaRPr lang="en-US" sz="770" dirty="0"/>
          </a:p>
        </p:txBody>
      </p:sp>
      <p:sp>
        <p:nvSpPr>
          <p:cNvPr id="8" name="Shape 6"/>
          <p:cNvSpPr/>
          <p:nvPr/>
        </p:nvSpPr>
        <p:spPr>
          <a:xfrm>
            <a:off x="347472" y="1170432"/>
            <a:ext cx="11494008" cy="640080"/>
          </a:xfrm>
          <a:prstGeom prst="rect">
            <a:avLst/>
          </a:prstGeom>
          <a:solidFill>
            <a:srgbClr val="F9F8F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" y="1252728"/>
            <a:ext cx="264490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20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~514 MW</a:t>
            </a:r>
            <a:endParaRPr lang="en-US" sz="2320" dirty="0"/>
          </a:p>
        </p:txBody>
      </p:sp>
      <p:sp>
        <p:nvSpPr>
          <p:cNvPr id="10" name="Text 8"/>
          <p:cNvSpPr/>
          <p:nvPr/>
        </p:nvSpPr>
        <p:spPr>
          <a:xfrm>
            <a:off x="493776" y="1563624"/>
            <a:ext cx="264490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Disclosed generation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3220974" y="1289304"/>
            <a:ext cx="0" cy="402336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67278" y="1252728"/>
            <a:ext cx="264490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20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~965 km</a:t>
            </a:r>
            <a:endParaRPr lang="en-US" sz="2320" dirty="0"/>
          </a:p>
        </p:txBody>
      </p:sp>
      <p:sp>
        <p:nvSpPr>
          <p:cNvPr id="13" name="Text 11"/>
          <p:cNvSpPr/>
          <p:nvPr/>
        </p:nvSpPr>
        <p:spPr>
          <a:xfrm>
            <a:off x="3367278" y="1563624"/>
            <a:ext cx="264490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High-voltage transmission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6094476" y="1289304"/>
            <a:ext cx="0" cy="402336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40780" y="1252728"/>
            <a:ext cx="264490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20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320" dirty="0"/>
          </a:p>
        </p:txBody>
      </p:sp>
      <p:sp>
        <p:nvSpPr>
          <p:cNvPr id="16" name="Text 14"/>
          <p:cNvSpPr/>
          <p:nvPr/>
        </p:nvSpPr>
        <p:spPr>
          <a:xfrm>
            <a:off x="6240780" y="1563624"/>
            <a:ext cx="264490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Mines in Pilbara system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8967978" y="1289304"/>
            <a:ext cx="0" cy="402336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14282" y="1252728"/>
            <a:ext cx="264490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20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320" dirty="0"/>
          </a:p>
        </p:txBody>
      </p:sp>
      <p:sp>
        <p:nvSpPr>
          <p:cNvPr id="19" name="Text 17"/>
          <p:cNvSpPr/>
          <p:nvPr/>
        </p:nvSpPr>
        <p:spPr>
          <a:xfrm>
            <a:off x="9114282" y="1563624"/>
            <a:ext cx="264490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terminals in system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347472" y="1965960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0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network</a:t>
            </a:r>
            <a:endParaRPr lang="en-US" sz="1370" dirty="0"/>
          </a:p>
        </p:txBody>
      </p:sp>
      <p:sp>
        <p:nvSpPr>
          <p:cNvPr id="22" name="Shape 20"/>
          <p:cNvSpPr/>
          <p:nvPr/>
        </p:nvSpPr>
        <p:spPr>
          <a:xfrm>
            <a:off x="347472" y="2249424"/>
            <a:ext cx="4599432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285232" y="1965960"/>
            <a:ext cx="6556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0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portfolio</a:t>
            </a:r>
            <a:endParaRPr lang="en-US" sz="1370" dirty="0"/>
          </a:p>
        </p:txBody>
      </p:sp>
      <p:sp>
        <p:nvSpPr>
          <p:cNvPr id="25" name="Shape 23"/>
          <p:cNvSpPr/>
          <p:nvPr/>
        </p:nvSpPr>
        <p:spPr>
          <a:xfrm>
            <a:off x="5285232" y="2249424"/>
            <a:ext cx="6556248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111496" y="1956816"/>
            <a:ext cx="0" cy="4096512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p/>
        </p:txBody>
      </p:sp>
      <p:graphicFrame>
        <p:nvGraphicFramePr>
          <p:cNvPr id="10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85232" y="2359152"/>
          <a:ext cx="6556248" cy="2002536"/>
        </p:xfrm>
        <a:graphic>
          <a:graphicData uri="http://schemas.openxmlformats.org/drawingml/2006/table">
            <a:tbl>
              <a:tblPr/>
              <a:tblGrid>
                <a:gridCol w="292608"/>
                <a:gridCol w="1783080"/>
                <a:gridCol w="594360"/>
                <a:gridCol w="1380744"/>
                <a:gridCol w="2505456"/>
              </a:tblGrid>
              <a:tr h="2862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254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21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MW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21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21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 / role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2142"/>
                    </a:solidFill>
                  </a:tcPr>
                </a:tc>
              </a:tr>
              <a:tr h="286207">
                <a:tc>
                  <a:txBody>
                    <a:bodyPr wrap="none"/>
                    <a:lstStyle/>
                    <a:p>
                      <a:pPr algn="ctr" indent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00"/>
                      </a:pPr>
                      <a:r>
                        <a:rPr sz="100">
                          <a:latin typeface="Arial"/>
                        </a:rPr>
                        <a:t> 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25400" marT="0" marB="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Yurralyi Maya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90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Dampier / Karratha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207">
                <a:tc>
                  <a:txBody>
                    <a:bodyPr wrap="none"/>
                    <a:lstStyle/>
                    <a:p>
                      <a:pPr algn="ctr" indent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00"/>
                      </a:pPr>
                      <a:r>
                        <a:rPr sz="100">
                          <a:latin typeface="Arial"/>
                        </a:rPr>
                        <a:t> 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25400" marT="0" marB="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Paraburdoo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90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Western Pilbara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86207">
                <a:tc>
                  <a:txBody>
                    <a:bodyPr wrap="none"/>
                    <a:lstStyle/>
                    <a:p>
                      <a:pPr algn="ctr" indent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00"/>
                      </a:pPr>
                      <a:r>
                        <a:rPr sz="100">
                          <a:latin typeface="Arial"/>
                        </a:rPr>
                        <a:t> 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25400" marT="0" marB="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 Lambert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90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 / diesel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Coastal / port system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207">
                <a:tc>
                  <a:txBody>
                    <a:bodyPr wrap="none"/>
                    <a:lstStyle/>
                    <a:p>
                      <a:pPr algn="ctr" indent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00"/>
                      </a:pPr>
                      <a:r>
                        <a:rPr sz="100">
                          <a:latin typeface="Arial"/>
                        </a:rPr>
                        <a:t> 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25400" marT="0" marB="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West Angelas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90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 / diesel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Eastern Pilbara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86207">
                <a:tc>
                  <a:txBody>
                    <a:bodyPr wrap="none"/>
                    <a:lstStyle/>
                    <a:p>
                      <a:pPr algn="ctr" indent="0" mar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00"/>
                      </a:pPr>
                      <a:r>
                        <a:rPr sz="100">
                          <a:latin typeface="Arial"/>
                        </a:rPr>
                        <a:t> 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25400" marT="0" marB="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76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Gudai-Darri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90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Solar PV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Gudai-Darri mine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2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254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90" b="1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Thermal + solar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90" b="1" dirty="0">
                          <a:solidFill>
                            <a:srgbClr val="3F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 MW + 34 MW</a:t>
                      </a:r>
                      <a:endParaRPr lang="en-US" sz="10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76200" marT="63500" marB="6350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A"/>
                    </a:solidFill>
                  </a:tcPr>
                </a:tc>
              </a:tr>
            </a:tbl>
          </a:graphicData>
        </a:graphic>
      </p:graphicFrame>
      <p:sp>
        <p:nvSpPr>
          <p:cNvPr id="116" name="Text 113"/>
          <p:cNvSpPr/>
          <p:nvPr/>
        </p:nvSpPr>
        <p:spPr>
          <a:xfrm>
            <a:off x="5294376" y="4425696"/>
            <a:ext cx="6547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thermal power stations and Gudai-Darri solar | Reference capacities</a:t>
            </a:r>
            <a:endParaRPr lang="en-US" sz="790" dirty="0"/>
          </a:p>
        </p:txBody>
      </p:sp>
      <p:sp>
        <p:nvSpPr>
          <p:cNvPr id="118" name="Text 115"/>
          <p:cNvSpPr/>
          <p:nvPr/>
        </p:nvSpPr>
        <p:spPr>
          <a:xfrm>
            <a:off x="5285232" y="4645152"/>
            <a:ext cx="6556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0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profile &amp; operating characteristics</a:t>
            </a:r>
            <a:endParaRPr lang="en-US" sz="1370" dirty="0"/>
          </a:p>
        </p:txBody>
      </p:sp>
      <p:sp>
        <p:nvSpPr>
          <p:cNvPr id="119" name="Shape 116"/>
          <p:cNvSpPr/>
          <p:nvPr/>
        </p:nvSpPr>
        <p:spPr>
          <a:xfrm>
            <a:off x="5285232" y="4928616"/>
            <a:ext cx="6556248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0" name="Text 117"/>
          <p:cNvSpPr/>
          <p:nvPr/>
        </p:nvSpPr>
        <p:spPr>
          <a:xfrm>
            <a:off x="5303520" y="5010912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spc="60" kern="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940" dirty="0"/>
          </a:p>
        </p:txBody>
      </p:sp>
      <p:sp>
        <p:nvSpPr>
          <p:cNvPr id="121" name="Text 118"/>
          <p:cNvSpPr/>
          <p:nvPr/>
        </p:nvSpPr>
        <p:spPr>
          <a:xfrm>
            <a:off x="8604504" y="5010912"/>
            <a:ext cx="3182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spc="20" kern="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CAPTIVE DEMAND</a:t>
            </a:r>
            <a:endParaRPr lang="en-US" sz="940" dirty="0"/>
          </a:p>
        </p:txBody>
      </p:sp>
      <p:sp>
        <p:nvSpPr>
          <p:cNvPr id="122" name="Shape 119"/>
          <p:cNvSpPr/>
          <p:nvPr/>
        </p:nvSpPr>
        <p:spPr>
          <a:xfrm>
            <a:off x="8421624" y="5010912"/>
            <a:ext cx="0" cy="100584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3" name="Text 120"/>
          <p:cNvSpPr/>
          <p:nvPr/>
        </p:nvSpPr>
        <p:spPr>
          <a:xfrm>
            <a:off x="5303520" y="525780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24" name="Text 121"/>
          <p:cNvSpPr/>
          <p:nvPr/>
        </p:nvSpPr>
        <p:spPr>
          <a:xfrm>
            <a:off x="5458968" y="5257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790 km at 220 kV + 175 km at 132 kV</a:t>
            </a:r>
            <a:endParaRPr lang="en-US" sz="1070" dirty="0"/>
          </a:p>
        </p:txBody>
      </p:sp>
      <p:sp>
        <p:nvSpPr>
          <p:cNvPr id="125" name="Text 122"/>
          <p:cNvSpPr/>
          <p:nvPr/>
        </p:nvSpPr>
        <p:spPr>
          <a:xfrm>
            <a:off x="5303520" y="5541264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26" name="Text 123"/>
          <p:cNvSpPr/>
          <p:nvPr/>
        </p:nvSpPr>
        <p:spPr>
          <a:xfrm>
            <a:off x="5458968" y="55412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switching stations + 12 bulk substations</a:t>
            </a:r>
            <a:endParaRPr lang="en-US" sz="1070" dirty="0"/>
          </a:p>
        </p:txBody>
      </p:sp>
      <p:sp>
        <p:nvSpPr>
          <p:cNvPr id="127" name="Text 124"/>
          <p:cNvSpPr/>
          <p:nvPr/>
        </p:nvSpPr>
        <p:spPr>
          <a:xfrm>
            <a:off x="5303520" y="5824728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28" name="Text 125"/>
          <p:cNvSpPr/>
          <p:nvPr/>
        </p:nvSpPr>
        <p:spPr>
          <a:xfrm>
            <a:off x="5458968" y="58247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kV distribution; limited Horizon Power links</a:t>
            </a:r>
            <a:endParaRPr lang="en-US" sz="1070" dirty="0"/>
          </a:p>
        </p:txBody>
      </p:sp>
      <p:sp>
        <p:nvSpPr>
          <p:cNvPr id="129" name="Text 126"/>
          <p:cNvSpPr/>
          <p:nvPr/>
        </p:nvSpPr>
        <p:spPr>
          <a:xfrm>
            <a:off x="8604504" y="525780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30" name="Text 127"/>
          <p:cNvSpPr/>
          <p:nvPr/>
        </p:nvSpPr>
        <p:spPr>
          <a:xfrm>
            <a:off x="8759952" y="5257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200–300 MW seasonal network load</a:t>
            </a:r>
            <a:endParaRPr lang="en-US" sz="1070" dirty="0"/>
          </a:p>
        </p:txBody>
      </p:sp>
      <p:sp>
        <p:nvSpPr>
          <p:cNvPr id="131" name="Text 128"/>
          <p:cNvSpPr/>
          <p:nvPr/>
        </p:nvSpPr>
        <p:spPr>
          <a:xfrm>
            <a:off x="8604504" y="5541264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32" name="Text 129"/>
          <p:cNvSpPr/>
          <p:nvPr/>
        </p:nvSpPr>
        <p:spPr>
          <a:xfrm>
            <a:off x="8759952" y="55412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mines, processing plants and coastal ports</a:t>
            </a:r>
            <a:endParaRPr lang="en-US" sz="1070" dirty="0"/>
          </a:p>
        </p:txBody>
      </p:sp>
      <p:sp>
        <p:nvSpPr>
          <p:cNvPr id="133" name="Text 130"/>
          <p:cNvSpPr/>
          <p:nvPr/>
        </p:nvSpPr>
        <p:spPr>
          <a:xfrm>
            <a:off x="8604504" y="5824728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34" name="Text 131"/>
          <p:cNvSpPr/>
          <p:nvPr/>
        </p:nvSpPr>
        <p:spPr>
          <a:xfrm>
            <a:off x="8759952" y="58247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supply to selected Pilbara communities</a:t>
            </a:r>
            <a:endParaRPr lang="en-US" sz="1070" dirty="0"/>
          </a:p>
        </p:txBody>
      </p:sp>
      <p:sp>
        <p:nvSpPr>
          <p:cNvPr id="135" name="Shape 132"/>
          <p:cNvSpPr/>
          <p:nvPr/>
        </p:nvSpPr>
        <p:spPr>
          <a:xfrm>
            <a:off x="347472" y="6163056"/>
            <a:ext cx="11494008" cy="246888"/>
          </a:xfrm>
          <a:prstGeom prst="rect">
            <a:avLst/>
          </a:prstGeom>
          <a:solidFill>
            <a:srgbClr val="FDFCF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6" name="Text 133"/>
          <p:cNvSpPr/>
          <p:nvPr/>
        </p:nvSpPr>
        <p:spPr>
          <a:xfrm>
            <a:off x="466344" y="6217920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35" kern="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DEMAND</a:t>
            </a:r>
            <a:endParaRPr lang="en-US" sz="820" dirty="0"/>
          </a:p>
        </p:txBody>
      </p:sp>
      <p:sp>
        <p:nvSpPr>
          <p:cNvPr id="137" name="Text 134"/>
          <p:cNvSpPr/>
          <p:nvPr/>
        </p:nvSpPr>
        <p:spPr>
          <a:xfrm>
            <a:off x="2221992" y="620877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Rhodes Ridge development is planned to use Rio’s existing rail, port and power infrastructure</a:t>
            </a:r>
            <a:endParaRPr lang="en-US" sz="920" dirty="0"/>
          </a:p>
        </p:txBody>
      </p:sp>
      <p:sp>
        <p:nvSpPr>
          <p:cNvPr id="141" name="Text 138"/>
          <p:cNvSpPr/>
          <p:nvPr/>
        </p:nvSpPr>
        <p:spPr>
          <a:xfrm>
            <a:off x="10762488" y="6739128"/>
            <a:ext cx="10789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SEP 2026  |  1</a:t>
            </a:r>
            <a:endParaRPr lang="en-US" sz="670" dirty="0"/>
          </a:p>
        </p:txBody>
      </p:sp>
      <p:pic>
        <p:nvPicPr>
          <p:cNvPr id="1031" name="MAP BASE | pilbara | one flattened 600 dpi RGB image" descr="pilbara_base.png"/>
          <p:cNvPicPr>
            <a:picLocks noChangeAspect="1" noMove="1" noResize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" y="2345436"/>
            <a:ext cx="4626864" cy="3703320"/>
          </a:xfrm>
          <a:prstGeom prst="rect">
            <a:avLst/>
          </a:prstGeom>
        </p:spPr>
      </p:pic>
      <p:sp>
        <p:nvSpPr>
          <p:cNvPr id="1025" name="TABLE | generation ID 1 | matches map" descr="Asset 1: Yurralyi Maya; map-matched numbered circle"/>
          <p:cNvSpPr/>
          <p:nvPr/>
        </p:nvSpPr>
        <p:spPr>
          <a:xfrm>
            <a:off x="5344668" y="2701594"/>
            <a:ext cx="173736" cy="173736"/>
          </a:xfrm>
          <a:prstGeom prst="ellipse">
            <a:avLst/>
          </a:prstGeom>
          <a:solidFill>
            <a:srgbClr val="442142"/>
          </a:solidFill>
          <a:ln w="14604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8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26" name="TABLE | generation ID 2 | matches map" descr="Asset 2: Paraburdoo; map-matched numbered circle"/>
          <p:cNvSpPr/>
          <p:nvPr/>
        </p:nvSpPr>
        <p:spPr>
          <a:xfrm>
            <a:off x="5344668" y="2987801"/>
            <a:ext cx="173736" cy="173736"/>
          </a:xfrm>
          <a:prstGeom prst="ellipse">
            <a:avLst/>
          </a:prstGeom>
          <a:solidFill>
            <a:srgbClr val="442142"/>
          </a:solidFill>
          <a:ln w="14604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8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27" name="TABLE | generation ID 3 | matches map" descr="Asset 3: Cape Lambert; map-matched numbered circle"/>
          <p:cNvSpPr/>
          <p:nvPr/>
        </p:nvSpPr>
        <p:spPr>
          <a:xfrm>
            <a:off x="5344668" y="3274008"/>
            <a:ext cx="173736" cy="173736"/>
          </a:xfrm>
          <a:prstGeom prst="ellipse">
            <a:avLst/>
          </a:prstGeom>
          <a:solidFill>
            <a:srgbClr val="442142"/>
          </a:solidFill>
          <a:ln w="14604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8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28" name="TABLE | generation ID 4 | matches map" descr="Asset 4: West Angelas; map-matched numbered circle"/>
          <p:cNvSpPr/>
          <p:nvPr/>
        </p:nvSpPr>
        <p:spPr>
          <a:xfrm>
            <a:off x="5344668" y="3560215"/>
            <a:ext cx="173736" cy="173736"/>
          </a:xfrm>
          <a:prstGeom prst="ellipse">
            <a:avLst/>
          </a:prstGeom>
          <a:solidFill>
            <a:srgbClr val="442142"/>
          </a:solidFill>
          <a:ln w="14604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8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29" name="TABLE | generation ID 5 | matches map" descr="Asset 5: Gudai-Darri; map-matched numbered circle"/>
          <p:cNvSpPr/>
          <p:nvPr/>
        </p:nvSpPr>
        <p:spPr>
          <a:xfrm>
            <a:off x="5344668" y="3846422"/>
            <a:ext cx="173736" cy="173736"/>
          </a:xfrm>
          <a:prstGeom prst="ellipse">
            <a:avLst/>
          </a:prstGeom>
          <a:solidFill>
            <a:srgbClr val="766B43"/>
          </a:solidFill>
          <a:ln w="14604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8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32" name="MAP OVERLAY | 000 | label | Generation, generalized corridors and selected loads"/>
          <p:cNvSpPr txBox="1"/>
          <p:nvPr/>
        </p:nvSpPr>
        <p:spPr>
          <a:xfrm>
            <a:off x="443484" y="2382012"/>
            <a:ext cx="4407408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6B7280"/>
                </a:solidFill>
                <a:latin typeface="Arial"/>
              </a:rPr>
              <a:t>Generation, generalized corridors and selected loads</a:t>
            </a:r>
          </a:p>
        </p:txBody>
      </p:sp>
      <p:sp>
        <p:nvSpPr>
          <p:cNvPr id="1033" name="MAP OVERLAY | 001 | label | Pannawonica"/>
          <p:cNvSpPr txBox="1"/>
          <p:nvPr/>
        </p:nvSpPr>
        <p:spPr>
          <a:xfrm>
            <a:off x="939873" y="3772042"/>
            <a:ext cx="704088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B7280"/>
                </a:solidFill>
                <a:latin typeface="Arial"/>
              </a:rPr>
              <a:t>Pannawonica</a:t>
            </a:r>
          </a:p>
        </p:txBody>
      </p:sp>
      <p:sp>
        <p:nvSpPr>
          <p:cNvPr id="1034" name="MAP OVERLAY | 002 | label | Nammuldi / Silvergrass"/>
          <p:cNvSpPr txBox="1"/>
          <p:nvPr/>
        </p:nvSpPr>
        <p:spPr>
          <a:xfrm>
            <a:off x="928116" y="4247388"/>
            <a:ext cx="1188720" cy="137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B7280"/>
                </a:solidFill>
                <a:latin typeface="Arial"/>
              </a:rPr>
              <a:t>Nammuldi / Silvergrass</a:t>
            </a:r>
          </a:p>
        </p:txBody>
      </p:sp>
      <p:sp>
        <p:nvSpPr>
          <p:cNvPr id="1035" name="MAP OVERLAY | 003 | label | Brockman"/>
          <p:cNvSpPr txBox="1"/>
          <p:nvPr/>
        </p:nvSpPr>
        <p:spPr>
          <a:xfrm>
            <a:off x="1455870" y="4593756"/>
            <a:ext cx="493776" cy="118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B7280"/>
                </a:solidFill>
                <a:latin typeface="Arial"/>
              </a:rPr>
              <a:t>Brockman</a:t>
            </a:r>
          </a:p>
        </p:txBody>
      </p:sp>
      <p:sp>
        <p:nvSpPr>
          <p:cNvPr id="1036" name="MAP OVERLAY | 004 | label | Tom Price / BESS"/>
          <p:cNvSpPr txBox="1"/>
          <p:nvPr/>
        </p:nvSpPr>
        <p:spPr>
          <a:xfrm>
            <a:off x="1604085" y="4746159"/>
            <a:ext cx="813816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B7280"/>
                </a:solidFill>
                <a:latin typeface="Arial"/>
              </a:rPr>
              <a:t>Tom Price / BESS</a:t>
            </a:r>
          </a:p>
        </p:txBody>
      </p:sp>
      <p:sp>
        <p:nvSpPr>
          <p:cNvPr id="1037" name="MAP OVERLAY | 005 | label | Marandoo"/>
          <p:cNvSpPr txBox="1"/>
          <p:nvPr/>
        </p:nvSpPr>
        <p:spPr>
          <a:xfrm>
            <a:off x="2885946" y="4507106"/>
            <a:ext cx="548640" cy="118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B7280"/>
                </a:solidFill>
                <a:latin typeface="Arial"/>
              </a:rPr>
              <a:t>Marandoo</a:t>
            </a:r>
          </a:p>
        </p:txBody>
      </p:sp>
      <p:sp>
        <p:nvSpPr>
          <p:cNvPr id="1038" name="MAP OVERLAY | 006 | label | Yandicoogina"/>
          <p:cNvSpPr txBox="1"/>
          <p:nvPr/>
        </p:nvSpPr>
        <p:spPr>
          <a:xfrm>
            <a:off x="3900916" y="4776945"/>
            <a:ext cx="758952" cy="118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B7280"/>
                </a:solidFill>
                <a:latin typeface="Arial"/>
              </a:rPr>
              <a:t>Yandicoogina</a:t>
            </a:r>
          </a:p>
        </p:txBody>
      </p:sp>
      <p:sp>
        <p:nvSpPr>
          <p:cNvPr id="1039" name="MAP OVERLAY | 007 | label | Hope Downs"/>
          <p:cNvSpPr txBox="1"/>
          <p:nvPr/>
        </p:nvSpPr>
        <p:spPr>
          <a:xfrm>
            <a:off x="4192524" y="5033772"/>
            <a:ext cx="640080" cy="118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B7280"/>
                </a:solidFill>
                <a:latin typeface="Arial"/>
              </a:rPr>
              <a:t>Hope Downs</a:t>
            </a:r>
          </a:p>
        </p:txBody>
      </p:sp>
      <p:sp>
        <p:nvSpPr>
          <p:cNvPr id="1040" name="MAP OVERLAY | 008 | label | Dampier ports"/>
          <p:cNvSpPr txBox="1"/>
          <p:nvPr/>
        </p:nvSpPr>
        <p:spPr>
          <a:xfrm>
            <a:off x="452628" y="2738628"/>
            <a:ext cx="722376" cy="118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6B7280"/>
                </a:solidFill>
                <a:latin typeface="Arial"/>
              </a:rPr>
              <a:t>Dampier ports</a:t>
            </a:r>
          </a:p>
        </p:txBody>
      </p:sp>
      <p:sp>
        <p:nvSpPr>
          <p:cNvPr id="1041" name="MAP OVERLAY | 009 | label | Cape Lambert ports"/>
          <p:cNvSpPr txBox="1"/>
          <p:nvPr/>
        </p:nvSpPr>
        <p:spPr>
          <a:xfrm>
            <a:off x="2537460" y="2610612"/>
            <a:ext cx="1124712" cy="118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6B7280"/>
                </a:solidFill>
                <a:latin typeface="Arial"/>
              </a:rPr>
              <a:t>Cape Lambert ports</a:t>
            </a:r>
          </a:p>
        </p:txBody>
      </p:sp>
      <p:sp>
        <p:nvSpPr>
          <p:cNvPr id="1042" name="MAP OVERLAY | 010 | generation ID 1"/>
          <p:cNvSpPr/>
          <p:nvPr/>
        </p:nvSpPr>
        <p:spPr>
          <a:xfrm>
            <a:off x="1501735" y="2806764"/>
            <a:ext cx="173736" cy="173736"/>
          </a:xfrm>
          <a:prstGeom prst="ellipse">
            <a:avLst/>
          </a:prstGeom>
          <a:solidFill>
            <a:srgbClr val="442142"/>
          </a:solidFill>
          <a:ln w="14604">
            <a:solidFill>
              <a:srgbClr val="FFFFFF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43" name="MAP OVERLAY | 011 | generation ID 2"/>
          <p:cNvSpPr/>
          <p:nvPr/>
        </p:nvSpPr>
        <p:spPr>
          <a:xfrm>
            <a:off x="2338746" y="5104777"/>
            <a:ext cx="173736" cy="173736"/>
          </a:xfrm>
          <a:prstGeom prst="ellipse">
            <a:avLst/>
          </a:prstGeom>
          <a:solidFill>
            <a:srgbClr val="442142"/>
          </a:solidFill>
          <a:ln w="14604">
            <a:solidFill>
              <a:srgbClr val="FFFFFF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44" name="MAP OVERLAY | 012 | generation ID 3"/>
          <p:cNvSpPr/>
          <p:nvPr/>
        </p:nvSpPr>
        <p:spPr>
          <a:xfrm>
            <a:off x="1857232" y="2697430"/>
            <a:ext cx="173736" cy="173736"/>
          </a:xfrm>
          <a:prstGeom prst="ellipse">
            <a:avLst/>
          </a:prstGeom>
          <a:solidFill>
            <a:srgbClr val="442142"/>
          </a:solidFill>
          <a:ln w="14604">
            <a:solidFill>
              <a:srgbClr val="FFFFFF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45" name="MAP OVERLAY | 013 | generation ID 4"/>
          <p:cNvSpPr/>
          <p:nvPr/>
        </p:nvSpPr>
        <p:spPr>
          <a:xfrm>
            <a:off x="3256495" y="5070875"/>
            <a:ext cx="173736" cy="173736"/>
          </a:xfrm>
          <a:prstGeom prst="ellipse">
            <a:avLst/>
          </a:prstGeom>
          <a:solidFill>
            <a:srgbClr val="442142"/>
          </a:solidFill>
          <a:ln w="14604">
            <a:solidFill>
              <a:srgbClr val="FFFFFF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46" name="MAP OVERLAY | 014 | generation ID 5"/>
          <p:cNvSpPr/>
          <p:nvPr/>
        </p:nvSpPr>
        <p:spPr>
          <a:xfrm>
            <a:off x="3639655" y="4296048"/>
            <a:ext cx="173736" cy="173736"/>
          </a:xfrm>
          <a:prstGeom prst="ellipse">
            <a:avLst/>
          </a:prstGeom>
          <a:solidFill>
            <a:srgbClr val="766B43"/>
          </a:solidFill>
          <a:ln w="14604">
            <a:solidFill>
              <a:srgbClr val="FFFFFF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47" name="MAP OVERLAY | 015 | label | Yurralyi Maya"/>
          <p:cNvSpPr txBox="1"/>
          <p:nvPr/>
        </p:nvSpPr>
        <p:spPr>
          <a:xfrm>
            <a:off x="516635" y="3250691"/>
            <a:ext cx="1243584" cy="1554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442142"/>
                </a:solidFill>
                <a:latin typeface="Arial"/>
              </a:rPr>
              <a:t>Yurralyi Maya</a:t>
            </a:r>
          </a:p>
        </p:txBody>
      </p:sp>
      <p:sp>
        <p:nvSpPr>
          <p:cNvPr id="1048" name="MAP OVERLAY | 016 | label | 200 MW"/>
          <p:cNvSpPr txBox="1"/>
          <p:nvPr/>
        </p:nvSpPr>
        <p:spPr>
          <a:xfrm>
            <a:off x="516635" y="3419856"/>
            <a:ext cx="749808" cy="118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766B43"/>
                </a:solidFill>
                <a:latin typeface="Arial"/>
              </a:rPr>
              <a:t>200 MW</a:t>
            </a:r>
          </a:p>
        </p:txBody>
      </p:sp>
      <p:sp>
        <p:nvSpPr>
          <p:cNvPr id="1049" name="MAP OVERLAY | 017 | label | Cape Lambert"/>
          <p:cNvSpPr txBox="1"/>
          <p:nvPr/>
        </p:nvSpPr>
        <p:spPr>
          <a:xfrm>
            <a:off x="2090404" y="2875738"/>
            <a:ext cx="1170432" cy="1463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442142"/>
                </a:solidFill>
                <a:latin typeface="Arial"/>
              </a:rPr>
              <a:t>Cape Lambert</a:t>
            </a:r>
          </a:p>
        </p:txBody>
      </p:sp>
      <p:sp>
        <p:nvSpPr>
          <p:cNvPr id="1050" name="MAP OVERLAY | 018 | label | 80 MW"/>
          <p:cNvSpPr txBox="1"/>
          <p:nvPr/>
        </p:nvSpPr>
        <p:spPr>
          <a:xfrm>
            <a:off x="2090404" y="3035758"/>
            <a:ext cx="658368" cy="118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6B43"/>
                </a:solidFill>
                <a:latin typeface="Arial"/>
              </a:rPr>
              <a:t>80 MW</a:t>
            </a:r>
          </a:p>
        </p:txBody>
      </p:sp>
      <p:sp>
        <p:nvSpPr>
          <p:cNvPr id="1051" name="MAP OVERLAY | 019 | label | Paraburdoo"/>
          <p:cNvSpPr txBox="1"/>
          <p:nvPr/>
        </p:nvSpPr>
        <p:spPr>
          <a:xfrm>
            <a:off x="1474638" y="5063629"/>
            <a:ext cx="822960" cy="1463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442142"/>
                </a:solidFill>
                <a:latin typeface="Arial"/>
              </a:rPr>
              <a:t>Paraburdoo</a:t>
            </a:r>
          </a:p>
        </p:txBody>
      </p:sp>
      <p:sp>
        <p:nvSpPr>
          <p:cNvPr id="1052" name="MAP OVERLAY | 020 | label | 120 MW"/>
          <p:cNvSpPr txBox="1"/>
          <p:nvPr/>
        </p:nvSpPr>
        <p:spPr>
          <a:xfrm>
            <a:off x="1675806" y="5223649"/>
            <a:ext cx="621792" cy="118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6B43"/>
                </a:solidFill>
                <a:latin typeface="Arial"/>
              </a:rPr>
              <a:t>120 MW</a:t>
            </a:r>
          </a:p>
        </p:txBody>
      </p:sp>
      <p:sp>
        <p:nvSpPr>
          <p:cNvPr id="1053" name="MAP OVERLAY | 021 | label | West Angelas"/>
          <p:cNvSpPr txBox="1"/>
          <p:nvPr/>
        </p:nvSpPr>
        <p:spPr>
          <a:xfrm>
            <a:off x="2858731" y="5281187"/>
            <a:ext cx="1024128" cy="1554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442142"/>
                </a:solidFill>
                <a:latin typeface="Arial"/>
              </a:rPr>
              <a:t>West Angelas</a:t>
            </a:r>
          </a:p>
        </p:txBody>
      </p:sp>
      <p:sp>
        <p:nvSpPr>
          <p:cNvPr id="1054" name="MAP OVERLAY | 022 | label | Gudai-Darri"/>
          <p:cNvSpPr txBox="1"/>
          <p:nvPr/>
        </p:nvSpPr>
        <p:spPr>
          <a:xfrm>
            <a:off x="3863683" y="4305192"/>
            <a:ext cx="859536" cy="1554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66B43"/>
                </a:solidFill>
                <a:latin typeface="Arial"/>
              </a:rPr>
              <a:t>Gudai-Darri</a:t>
            </a:r>
          </a:p>
        </p:txBody>
      </p:sp>
      <p:sp>
        <p:nvSpPr>
          <p:cNvPr id="1055" name="MAP OVERLAY | 023 | label | Solar · 33 kV tie"/>
          <p:cNvSpPr txBox="1"/>
          <p:nvPr/>
        </p:nvSpPr>
        <p:spPr>
          <a:xfrm>
            <a:off x="3863683" y="4474356"/>
            <a:ext cx="859536" cy="118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766B43"/>
                </a:solidFill>
                <a:latin typeface="Arial"/>
              </a:rPr>
              <a:t>Solar · 33 kV tie</a:t>
            </a:r>
          </a:p>
        </p:txBody>
      </p:sp>
      <p:sp>
        <p:nvSpPr>
          <p:cNvPr id="1056" name="MAP OVERLAY | 024 | label | INDIAN OCEAN"/>
          <p:cNvSpPr txBox="1"/>
          <p:nvPr/>
        </p:nvSpPr>
        <p:spPr>
          <a:xfrm>
            <a:off x="516635" y="2967228"/>
            <a:ext cx="1143000" cy="1554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1">
                <a:solidFill>
                  <a:srgbClr val="8794A0"/>
                </a:solidFill>
                <a:latin typeface="Arial"/>
              </a:rPr>
              <a:t>INDIAN OCEAN</a:t>
            </a:r>
          </a:p>
        </p:txBody>
      </p:sp>
      <p:sp>
        <p:nvSpPr>
          <p:cNvPr id="1057" name="MAP OVERLAY | 025 | label | P I L B A R A"/>
          <p:cNvSpPr txBox="1"/>
          <p:nvPr/>
        </p:nvSpPr>
        <p:spPr>
          <a:xfrm>
            <a:off x="3323844" y="3579876"/>
            <a:ext cx="1115568" cy="164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794A0"/>
                </a:solidFill>
                <a:latin typeface="Arial"/>
              </a:rPr>
              <a:t>P I L B A R A</a:t>
            </a:r>
          </a:p>
        </p:txBody>
      </p:sp>
      <p:sp>
        <p:nvSpPr>
          <p:cNvPr id="1058" name="MAP OVERLAY | 026 | label | Horizon Power links at / Dampier / Cape Lambert"/>
          <p:cNvSpPr txBox="1"/>
          <p:nvPr/>
        </p:nvSpPr>
        <p:spPr>
          <a:xfrm>
            <a:off x="3506724" y="3826764"/>
            <a:ext cx="1188720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B7280"/>
                </a:solidFill>
                <a:latin typeface="Arial"/>
              </a:rPr>
              <a:t>Horizon Power links 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B7280"/>
                </a:solidFill>
                <a:latin typeface="Arial"/>
              </a:rPr>
              <a:t>Dampier / Cape Lambert</a:t>
            </a:r>
          </a:p>
        </p:txBody>
      </p:sp>
      <p:sp>
        <p:nvSpPr>
          <p:cNvPr id="1059" name="MAP OVERLAY | 027 | inset / legend border"/>
          <p:cNvSpPr/>
          <p:nvPr/>
        </p:nvSpPr>
        <p:spPr>
          <a:xfrm>
            <a:off x="4082796" y="2656332"/>
            <a:ext cx="694944" cy="630936"/>
          </a:xfrm>
          <a:prstGeom prst="rect">
            <a:avLst/>
          </a:prstGeom>
          <a:noFill/>
          <a:ln w="762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0" name="MAP OVERLAY | 028 | label | PILBARA, WA"/>
          <p:cNvSpPr txBox="1"/>
          <p:nvPr/>
        </p:nvSpPr>
        <p:spPr>
          <a:xfrm>
            <a:off x="4101083" y="3154680"/>
            <a:ext cx="658368" cy="118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70" b="1" i="0">
                <a:solidFill>
                  <a:srgbClr val="3F3F46"/>
                </a:solidFill>
                <a:latin typeface="Arial"/>
              </a:rPr>
              <a:t>PILBARA, WA</a:t>
            </a:r>
          </a:p>
        </p:txBody>
      </p:sp>
      <p:sp>
        <p:nvSpPr>
          <p:cNvPr id="1061" name="MAP OVERLAY | 029 | label | N"/>
          <p:cNvSpPr txBox="1"/>
          <p:nvPr/>
        </p:nvSpPr>
        <p:spPr>
          <a:xfrm>
            <a:off x="4690872" y="3278124"/>
            <a:ext cx="118872" cy="118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6B7280"/>
                </a:solidFill>
                <a:latin typeface="Arial"/>
              </a:rPr>
              <a:t>N</a:t>
            </a:r>
          </a:p>
        </p:txBody>
      </p:sp>
      <p:cxnSp>
        <p:nvCxnSpPr>
          <p:cNvPr id="1062" name="MAP OVERLAY | 030 | legend / scale line"/>
          <p:cNvCxnSpPr/>
          <p:nvPr/>
        </p:nvCxnSpPr>
        <p:spPr>
          <a:xfrm>
            <a:off x="516635" y="5207508"/>
            <a:ext cx="427871" cy="0"/>
          </a:xfrm>
          <a:prstGeom prst="line">
            <a:avLst/>
          </a:prstGeom>
          <a:ln w="8890">
            <a:solidFill>
              <a:srgbClr val="3F3F46"/>
            </a:solidFill>
          </a:ln>
        </p:spPr>
      </p:cxnSp>
      <p:cxnSp>
        <p:nvCxnSpPr>
          <p:cNvPr id="1063" name="MAP OVERLAY | 031 | legend / scale line"/>
          <p:cNvCxnSpPr/>
          <p:nvPr/>
        </p:nvCxnSpPr>
        <p:spPr>
          <a:xfrm>
            <a:off x="516635" y="5185562"/>
            <a:ext cx="0" cy="43891"/>
          </a:xfrm>
          <a:prstGeom prst="line">
            <a:avLst/>
          </a:prstGeom>
          <a:ln w="8890">
            <a:solidFill>
              <a:srgbClr val="3F3F46"/>
            </a:solidFill>
          </a:ln>
        </p:spPr>
      </p:cxnSp>
      <p:cxnSp>
        <p:nvCxnSpPr>
          <p:cNvPr id="1064" name="MAP OVERLAY | 032 | legend / scale line"/>
          <p:cNvCxnSpPr/>
          <p:nvPr/>
        </p:nvCxnSpPr>
        <p:spPr>
          <a:xfrm>
            <a:off x="944506" y="5185562"/>
            <a:ext cx="0" cy="43891"/>
          </a:xfrm>
          <a:prstGeom prst="line">
            <a:avLst/>
          </a:prstGeom>
          <a:ln w="8890">
            <a:solidFill>
              <a:srgbClr val="3F3F46"/>
            </a:solidFill>
          </a:ln>
        </p:spPr>
      </p:cxnSp>
      <p:sp>
        <p:nvSpPr>
          <p:cNvPr id="1065" name="MAP OVERLAY | 033 | label | 0"/>
          <p:cNvSpPr txBox="1"/>
          <p:nvPr/>
        </p:nvSpPr>
        <p:spPr>
          <a:xfrm>
            <a:off x="504748" y="5244083"/>
            <a:ext cx="91440" cy="1005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3F3F46"/>
                </a:solidFill>
                <a:latin typeface="Arial"/>
              </a:rPr>
              <a:t>0</a:t>
            </a:r>
          </a:p>
        </p:txBody>
      </p:sp>
      <p:sp>
        <p:nvSpPr>
          <p:cNvPr id="1066" name="MAP OVERLAY | 034 | label | 50 km"/>
          <p:cNvSpPr txBox="1"/>
          <p:nvPr/>
        </p:nvSpPr>
        <p:spPr>
          <a:xfrm>
            <a:off x="789058" y="5244083"/>
            <a:ext cx="320040" cy="1005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3F3F46"/>
                </a:solidFill>
                <a:latin typeface="Arial"/>
              </a:rPr>
              <a:t>50 km</a:t>
            </a:r>
          </a:p>
        </p:txBody>
      </p:sp>
      <p:sp>
        <p:nvSpPr>
          <p:cNvPr id="1067" name="MAP OVERLAY | 035 | inset / legend border"/>
          <p:cNvSpPr/>
          <p:nvPr/>
        </p:nvSpPr>
        <p:spPr>
          <a:xfrm>
            <a:off x="425196" y="5527548"/>
            <a:ext cx="4443984" cy="438912"/>
          </a:xfrm>
          <a:prstGeom prst="rect">
            <a:avLst/>
          </a:prstGeom>
          <a:noFill/>
          <a:ln w="762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8" name="MAP OVERLAY | 036 | legend symbol"/>
          <p:cNvSpPr/>
          <p:nvPr/>
        </p:nvSpPr>
        <p:spPr>
          <a:xfrm>
            <a:off x="544068" y="5596128"/>
            <a:ext cx="73152" cy="73152"/>
          </a:xfrm>
          <a:prstGeom prst="ellipse">
            <a:avLst/>
          </a:prstGeom>
          <a:solidFill>
            <a:srgbClr val="442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9" name="MAP OVERLAY | 037 | label | Thermal"/>
          <p:cNvSpPr txBox="1"/>
          <p:nvPr/>
        </p:nvSpPr>
        <p:spPr>
          <a:xfrm>
            <a:off x="763524" y="5575096"/>
            <a:ext cx="822960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3F3F46"/>
                </a:solidFill>
                <a:latin typeface="Arial"/>
              </a:rPr>
              <a:t>Thermal</a:t>
            </a:r>
          </a:p>
        </p:txBody>
      </p:sp>
      <p:sp>
        <p:nvSpPr>
          <p:cNvPr id="1070" name="MAP OVERLAY | 038 | legend symbol"/>
          <p:cNvSpPr/>
          <p:nvPr/>
        </p:nvSpPr>
        <p:spPr>
          <a:xfrm>
            <a:off x="1641348" y="5596128"/>
            <a:ext cx="73152" cy="73152"/>
          </a:xfrm>
          <a:prstGeom prst="ellipse">
            <a:avLst/>
          </a:prstGeom>
          <a:solidFill>
            <a:srgbClr val="766B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1" name="MAP OVERLAY | 039 | label | Solar"/>
          <p:cNvSpPr txBox="1"/>
          <p:nvPr/>
        </p:nvSpPr>
        <p:spPr>
          <a:xfrm>
            <a:off x="1860804" y="5575096"/>
            <a:ext cx="822960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3F3F46"/>
                </a:solidFill>
                <a:latin typeface="Arial"/>
              </a:rPr>
              <a:t>Solar</a:t>
            </a:r>
          </a:p>
        </p:txBody>
      </p:sp>
      <p:sp>
        <p:nvSpPr>
          <p:cNvPr id="1072" name="MAP OVERLAY | 040 | legend symbol"/>
          <p:cNvSpPr/>
          <p:nvPr/>
        </p:nvSpPr>
        <p:spPr>
          <a:xfrm>
            <a:off x="2738628" y="5596128"/>
            <a:ext cx="73152" cy="73152"/>
          </a:xfrm>
          <a:prstGeom prst="diamond">
            <a:avLst/>
          </a:prstGeom>
          <a:solidFill>
            <a:srgbClr val="8794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3" name="MAP OVERLAY | 041 | label | Mine / town"/>
          <p:cNvSpPr txBox="1"/>
          <p:nvPr/>
        </p:nvSpPr>
        <p:spPr>
          <a:xfrm>
            <a:off x="2958084" y="5575096"/>
            <a:ext cx="822960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3F3F46"/>
                </a:solidFill>
                <a:latin typeface="Arial"/>
              </a:rPr>
              <a:t>Mine / town</a:t>
            </a:r>
          </a:p>
        </p:txBody>
      </p:sp>
      <p:sp>
        <p:nvSpPr>
          <p:cNvPr id="1074" name="MAP OVERLAY | 042 | legend symbol"/>
          <p:cNvSpPr/>
          <p:nvPr/>
        </p:nvSpPr>
        <p:spPr>
          <a:xfrm>
            <a:off x="3835907" y="5596128"/>
            <a:ext cx="73152" cy="73152"/>
          </a:xfrm>
          <a:prstGeom prst="rect">
            <a:avLst/>
          </a:prstGeom>
          <a:solidFill>
            <a:srgbClr val="FFFFFF"/>
          </a:solidFill>
          <a:ln w="7620">
            <a:solidFill>
              <a:srgbClr val="879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5" name="MAP OVERLAY | 043 | label | Port complex"/>
          <p:cNvSpPr txBox="1"/>
          <p:nvPr/>
        </p:nvSpPr>
        <p:spPr>
          <a:xfrm>
            <a:off x="4055364" y="5575096"/>
            <a:ext cx="822960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3F3F46"/>
                </a:solidFill>
                <a:latin typeface="Arial"/>
              </a:rPr>
              <a:t>Port complex</a:t>
            </a:r>
          </a:p>
        </p:txBody>
      </p:sp>
      <p:cxnSp>
        <p:nvCxnSpPr>
          <p:cNvPr id="1076" name="MAP OVERLAY | 044 | legend / scale line"/>
          <p:cNvCxnSpPr/>
          <p:nvPr/>
        </p:nvCxnSpPr>
        <p:spPr>
          <a:xfrm>
            <a:off x="512064" y="5824728"/>
            <a:ext cx="196596" cy="0"/>
          </a:xfrm>
          <a:prstGeom prst="line">
            <a:avLst/>
          </a:prstGeom>
          <a:ln w="13335">
            <a:solidFill>
              <a:srgbClr val="442142"/>
            </a:solidFill>
          </a:ln>
        </p:spPr>
      </p:cxnSp>
      <p:sp>
        <p:nvSpPr>
          <p:cNvPr id="1077" name="MAP OVERLAY | 045 | label | 220 kV"/>
          <p:cNvSpPr txBox="1"/>
          <p:nvPr/>
        </p:nvSpPr>
        <p:spPr>
          <a:xfrm>
            <a:off x="763524" y="5767120"/>
            <a:ext cx="822960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3F3F46"/>
                </a:solidFill>
                <a:latin typeface="Arial"/>
              </a:rPr>
              <a:t>220 kV</a:t>
            </a:r>
          </a:p>
        </p:txBody>
      </p:sp>
      <p:cxnSp>
        <p:nvCxnSpPr>
          <p:cNvPr id="1078" name="MAP OVERLAY | 046 | legend / scale line"/>
          <p:cNvCxnSpPr/>
          <p:nvPr/>
        </p:nvCxnSpPr>
        <p:spPr>
          <a:xfrm>
            <a:off x="1609344" y="5824728"/>
            <a:ext cx="196595" cy="0"/>
          </a:xfrm>
          <a:prstGeom prst="line">
            <a:avLst/>
          </a:prstGeom>
          <a:ln w="13335">
            <a:solidFill>
              <a:srgbClr val="B4A87D"/>
            </a:solidFill>
            <a:prstDash val="dash"/>
          </a:ln>
        </p:spPr>
      </p:cxnSp>
      <p:sp>
        <p:nvSpPr>
          <p:cNvPr id="1079" name="MAP OVERLAY | 047 | label | 132 kV"/>
          <p:cNvSpPr txBox="1"/>
          <p:nvPr/>
        </p:nvSpPr>
        <p:spPr>
          <a:xfrm>
            <a:off x="1860804" y="5767120"/>
            <a:ext cx="822960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3F3F46"/>
                </a:solidFill>
                <a:latin typeface="Arial"/>
              </a:rPr>
              <a:t>132 kV</a:t>
            </a:r>
          </a:p>
        </p:txBody>
      </p:sp>
      <p:cxnSp>
        <p:nvCxnSpPr>
          <p:cNvPr id="1080" name="MAP OVERLAY | 048 | legend / scale line"/>
          <p:cNvCxnSpPr/>
          <p:nvPr/>
        </p:nvCxnSpPr>
        <p:spPr>
          <a:xfrm>
            <a:off x="2706624" y="5824728"/>
            <a:ext cx="196596" cy="0"/>
          </a:xfrm>
          <a:prstGeom prst="line">
            <a:avLst/>
          </a:prstGeom>
          <a:ln w="13335">
            <a:solidFill>
              <a:srgbClr val="766B43"/>
            </a:solidFill>
            <a:prstDash val="sysDot"/>
          </a:ln>
        </p:spPr>
      </p:cxnSp>
      <p:sp>
        <p:nvSpPr>
          <p:cNvPr id="1081" name="MAP OVERLAY | 049 | label | 33 kV tie"/>
          <p:cNvSpPr txBox="1"/>
          <p:nvPr/>
        </p:nvSpPr>
        <p:spPr>
          <a:xfrm>
            <a:off x="2958084" y="5767120"/>
            <a:ext cx="822960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3F3F46"/>
                </a:solidFill>
                <a:latin typeface="Arial"/>
              </a:rPr>
              <a:t>33 kV tie</a:t>
            </a:r>
          </a:p>
        </p:txBody>
      </p:sp>
      <p:sp>
        <p:nvSpPr>
          <p:cNvPr id="1082" name="MAP OVERLAY | 050 | legend symbol"/>
          <p:cNvSpPr/>
          <p:nvPr/>
        </p:nvSpPr>
        <p:spPr>
          <a:xfrm>
            <a:off x="3835907" y="5788152"/>
            <a:ext cx="73152" cy="73152"/>
          </a:xfrm>
          <a:prstGeom prst="rect">
            <a:avLst/>
          </a:prstGeom>
          <a:solidFill>
            <a:srgbClr val="FFFFFF"/>
          </a:solidFill>
          <a:ln w="7620">
            <a:solidFill>
              <a:srgbClr val="879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3" name="MAP OVERLAY | 051 | label | Storage"/>
          <p:cNvSpPr txBox="1"/>
          <p:nvPr/>
        </p:nvSpPr>
        <p:spPr>
          <a:xfrm>
            <a:off x="4055364" y="5767120"/>
            <a:ext cx="822960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3F3F46"/>
                </a:solidFill>
                <a:latin typeface="Arial"/>
              </a:rPr>
              <a:t>Storage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37160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30" kern="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TINTO  /  ASSET PROFILE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347472" y="365760"/>
            <a:ext cx="2999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Canada Power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16936" y="411480"/>
            <a:ext cx="0" cy="29260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108960" y="393192"/>
            <a:ext cx="8705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30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captive hydroelectric platform</a:t>
            </a:r>
            <a:endParaRPr lang="en-US" sz="2130" dirty="0"/>
          </a:p>
        </p:txBody>
      </p:sp>
      <p:sp>
        <p:nvSpPr>
          <p:cNvPr id="6" name="Text 4"/>
          <p:cNvSpPr/>
          <p:nvPr/>
        </p:nvSpPr>
        <p:spPr>
          <a:xfrm>
            <a:off x="347472" y="822960"/>
            <a:ext cx="11494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5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Saguenay–Lac-Saint-Jean generation, reservoirs and transmission supporting Rio’s Quebec aluminium operations</a:t>
            </a:r>
            <a:endParaRPr lang="en-US" sz="1135" dirty="0"/>
          </a:p>
        </p:txBody>
      </p:sp>
      <p:sp>
        <p:nvSpPr>
          <p:cNvPr id="7" name="Text 5"/>
          <p:cNvSpPr/>
          <p:nvPr/>
        </p:nvSpPr>
        <p:spPr>
          <a:xfrm>
            <a:off x="9747504" y="146304"/>
            <a:ext cx="2093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70" spc="50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PUBLIC-SOURCE PROFILE</a:t>
            </a:r>
            <a:endParaRPr lang="en-US" sz="770" dirty="0"/>
          </a:p>
        </p:txBody>
      </p:sp>
      <p:sp>
        <p:nvSpPr>
          <p:cNvPr id="8" name="Shape 6"/>
          <p:cNvSpPr/>
          <p:nvPr/>
        </p:nvSpPr>
        <p:spPr>
          <a:xfrm>
            <a:off x="347472" y="1170432"/>
            <a:ext cx="11494008" cy="640080"/>
          </a:xfrm>
          <a:prstGeom prst="rect">
            <a:avLst/>
          </a:prstGeom>
          <a:solidFill>
            <a:srgbClr val="F9F8F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" y="1252728"/>
            <a:ext cx="264490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20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~3.1 GW</a:t>
            </a:r>
            <a:endParaRPr lang="en-US" sz="2320" dirty="0"/>
          </a:p>
        </p:txBody>
      </p:sp>
      <p:sp>
        <p:nvSpPr>
          <p:cNvPr id="10" name="Text 8"/>
          <p:cNvSpPr/>
          <p:nvPr/>
        </p:nvSpPr>
        <p:spPr>
          <a:xfrm>
            <a:off x="493776" y="1563624"/>
            <a:ext cx="264490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Saguenay installed capacity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3220974" y="1289304"/>
            <a:ext cx="0" cy="402336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67278" y="1252728"/>
            <a:ext cx="264490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20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20" dirty="0"/>
          </a:p>
        </p:txBody>
      </p:sp>
      <p:sp>
        <p:nvSpPr>
          <p:cNvPr id="13" name="Text 11"/>
          <p:cNvSpPr/>
          <p:nvPr/>
        </p:nvSpPr>
        <p:spPr>
          <a:xfrm>
            <a:off x="3367278" y="1563624"/>
            <a:ext cx="264490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Hydroelectric stations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6094476" y="1289304"/>
            <a:ext cx="0" cy="402336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40780" y="1252728"/>
            <a:ext cx="264490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20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884 km</a:t>
            </a:r>
            <a:endParaRPr lang="en-US" sz="2320" dirty="0"/>
          </a:p>
        </p:txBody>
      </p:sp>
      <p:sp>
        <p:nvSpPr>
          <p:cNvPr id="16" name="Text 14"/>
          <p:cNvSpPr/>
          <p:nvPr/>
        </p:nvSpPr>
        <p:spPr>
          <a:xfrm>
            <a:off x="6240780" y="1563624"/>
            <a:ext cx="264490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Saguenay transmission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8967978" y="1289304"/>
            <a:ext cx="0" cy="402336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14282" y="1252728"/>
            <a:ext cx="264490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20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~2.1 GW</a:t>
            </a:r>
            <a:endParaRPr lang="en-US" sz="2320" dirty="0"/>
          </a:p>
        </p:txBody>
      </p:sp>
      <p:sp>
        <p:nvSpPr>
          <p:cNvPr id="19" name="Text 17"/>
          <p:cNvSpPr/>
          <p:nvPr/>
        </p:nvSpPr>
        <p:spPr>
          <a:xfrm>
            <a:off x="9114282" y="1563624"/>
            <a:ext cx="264490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output equivalent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347472" y="1965960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0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Saguenay hydro system</a:t>
            </a:r>
            <a:endParaRPr lang="en-US" sz="1370" dirty="0"/>
          </a:p>
        </p:txBody>
      </p:sp>
      <p:sp>
        <p:nvSpPr>
          <p:cNvPr id="22" name="Shape 20"/>
          <p:cNvSpPr/>
          <p:nvPr/>
        </p:nvSpPr>
        <p:spPr>
          <a:xfrm>
            <a:off x="347472" y="2249424"/>
            <a:ext cx="4599432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285232" y="1965960"/>
            <a:ext cx="6556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0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portfolio</a:t>
            </a:r>
            <a:endParaRPr lang="en-US" sz="1370" dirty="0"/>
          </a:p>
        </p:txBody>
      </p:sp>
      <p:sp>
        <p:nvSpPr>
          <p:cNvPr id="25" name="Shape 23"/>
          <p:cNvSpPr/>
          <p:nvPr/>
        </p:nvSpPr>
        <p:spPr>
          <a:xfrm>
            <a:off x="5285232" y="2249424"/>
            <a:ext cx="6556248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111496" y="1956816"/>
            <a:ext cx="0" cy="4096512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6" name="Text 113"/>
          <p:cNvSpPr/>
          <p:nvPr/>
        </p:nvSpPr>
        <p:spPr>
          <a:xfrm>
            <a:off x="5294376" y="4535424"/>
            <a:ext cx="6547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Shipshaw includes its 2012 addition | Original station commissioning dates shown</a:t>
            </a:r>
            <a:endParaRPr lang="en-US" sz="790" dirty="0"/>
          </a:p>
        </p:txBody>
      </p:sp>
      <p:sp>
        <p:nvSpPr>
          <p:cNvPr id="118" name="Text 115"/>
          <p:cNvSpPr/>
          <p:nvPr/>
        </p:nvSpPr>
        <p:spPr>
          <a:xfrm>
            <a:off x="5285232" y="4736592"/>
            <a:ext cx="6556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0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profile &amp; operating characteristics</a:t>
            </a:r>
            <a:endParaRPr lang="en-US" sz="1370" dirty="0"/>
          </a:p>
        </p:txBody>
      </p:sp>
      <p:sp>
        <p:nvSpPr>
          <p:cNvPr id="119" name="Shape 116"/>
          <p:cNvSpPr/>
          <p:nvPr/>
        </p:nvSpPr>
        <p:spPr>
          <a:xfrm>
            <a:off x="5285232" y="5020056"/>
            <a:ext cx="6556248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0" name="Text 117"/>
          <p:cNvSpPr/>
          <p:nvPr/>
        </p:nvSpPr>
        <p:spPr>
          <a:xfrm>
            <a:off x="5303520" y="5102352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spc="60" kern="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PROFILE</a:t>
            </a:r>
            <a:endParaRPr lang="en-US" sz="940" dirty="0"/>
          </a:p>
        </p:txBody>
      </p:sp>
      <p:sp>
        <p:nvSpPr>
          <p:cNvPr id="121" name="Text 118"/>
          <p:cNvSpPr/>
          <p:nvPr/>
        </p:nvSpPr>
        <p:spPr>
          <a:xfrm>
            <a:off x="8604504" y="5102352"/>
            <a:ext cx="3182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b="1" spc="20" kern="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CAPTIVE DEMAND</a:t>
            </a:r>
            <a:endParaRPr lang="en-US" sz="940" dirty="0"/>
          </a:p>
        </p:txBody>
      </p:sp>
      <p:sp>
        <p:nvSpPr>
          <p:cNvPr id="122" name="Shape 119"/>
          <p:cNvSpPr/>
          <p:nvPr/>
        </p:nvSpPr>
        <p:spPr>
          <a:xfrm>
            <a:off x="8421624" y="5093208"/>
            <a:ext cx="0" cy="950976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3" name="Text 120"/>
          <p:cNvSpPr/>
          <p:nvPr/>
        </p:nvSpPr>
        <p:spPr>
          <a:xfrm>
            <a:off x="5303520" y="5349240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24" name="Text 121"/>
          <p:cNvSpPr/>
          <p:nvPr/>
        </p:nvSpPr>
        <p:spPr>
          <a:xfrm>
            <a:off x="5458968" y="53492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5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dams / water-control structures</a:t>
            </a:r>
            <a:endParaRPr lang="en-US" sz="1070" dirty="0"/>
          </a:p>
        </p:txBody>
      </p:sp>
      <p:sp>
        <p:nvSpPr>
          <p:cNvPr id="125" name="Text 122"/>
          <p:cNvSpPr/>
          <p:nvPr/>
        </p:nvSpPr>
        <p:spPr>
          <a:xfrm>
            <a:off x="5303520" y="5586984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26" name="Text 123"/>
          <p:cNvSpPr/>
          <p:nvPr/>
        </p:nvSpPr>
        <p:spPr>
          <a:xfrm>
            <a:off x="5458968" y="558698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5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units / 4 Hydro-Québec interconnections</a:t>
            </a:r>
            <a:endParaRPr lang="en-US" sz="1070" dirty="0"/>
          </a:p>
        </p:txBody>
      </p:sp>
      <p:sp>
        <p:nvSpPr>
          <p:cNvPr id="127" name="Text 124"/>
          <p:cNvSpPr/>
          <p:nvPr/>
        </p:nvSpPr>
        <p:spPr>
          <a:xfrm>
            <a:off x="5303520" y="5824728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28" name="Text 125"/>
          <p:cNvSpPr/>
          <p:nvPr/>
        </p:nvSpPr>
        <p:spPr>
          <a:xfrm>
            <a:off x="5458968" y="58247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5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~73,800 sq km watershed</a:t>
            </a:r>
            <a:endParaRPr lang="en-US" sz="1070" dirty="0"/>
          </a:p>
        </p:txBody>
      </p:sp>
      <p:sp>
        <p:nvSpPr>
          <p:cNvPr id="129" name="Text 126"/>
          <p:cNvSpPr/>
          <p:nvPr/>
        </p:nvSpPr>
        <p:spPr>
          <a:xfrm>
            <a:off x="8604504" y="5349240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30" name="Text 127"/>
          <p:cNvSpPr/>
          <p:nvPr/>
        </p:nvSpPr>
        <p:spPr>
          <a:xfrm>
            <a:off x="8759952" y="534924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5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 of Rio’s Quebec smelter power needs</a:t>
            </a:r>
            <a:endParaRPr lang="en-US" sz="1070" dirty="0"/>
          </a:p>
        </p:txBody>
      </p:sp>
      <p:sp>
        <p:nvSpPr>
          <p:cNvPr id="131" name="Text 128"/>
          <p:cNvSpPr/>
          <p:nvPr/>
        </p:nvSpPr>
        <p:spPr>
          <a:xfrm>
            <a:off x="8604504" y="5586984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32" name="Text 129"/>
          <p:cNvSpPr/>
          <p:nvPr/>
        </p:nvSpPr>
        <p:spPr>
          <a:xfrm>
            <a:off x="8759952" y="558698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5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wholly owned smelters in the region</a:t>
            </a:r>
            <a:endParaRPr lang="en-US" sz="1070" dirty="0"/>
          </a:p>
        </p:txBody>
      </p:sp>
      <p:sp>
        <p:nvSpPr>
          <p:cNvPr id="133" name="Text 130"/>
          <p:cNvSpPr/>
          <p:nvPr/>
        </p:nvSpPr>
        <p:spPr>
          <a:xfrm>
            <a:off x="8604504" y="5824728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34" name="Text 131"/>
          <p:cNvSpPr/>
          <p:nvPr/>
        </p:nvSpPr>
        <p:spPr>
          <a:xfrm>
            <a:off x="8759952" y="58247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5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loads include Alma and Arvida / AP60</a:t>
            </a:r>
            <a:endParaRPr lang="en-US" sz="1070" dirty="0"/>
          </a:p>
        </p:txBody>
      </p:sp>
      <p:sp>
        <p:nvSpPr>
          <p:cNvPr id="135" name="Shape 132"/>
          <p:cNvSpPr/>
          <p:nvPr/>
        </p:nvSpPr>
        <p:spPr>
          <a:xfrm>
            <a:off x="347472" y="6163056"/>
            <a:ext cx="11494008" cy="246888"/>
          </a:xfrm>
          <a:prstGeom prst="rect">
            <a:avLst/>
          </a:prstGeom>
          <a:solidFill>
            <a:srgbClr val="FDFCF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6" name="Text 133"/>
          <p:cNvSpPr/>
          <p:nvPr/>
        </p:nvSpPr>
        <p:spPr>
          <a:xfrm>
            <a:off x="466344" y="6217920"/>
            <a:ext cx="187451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5" b="1" spc="35" kern="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CANADIAN HYDRO</a:t>
            </a:r>
            <a:endParaRPr lang="en-US" sz="820" dirty="0"/>
          </a:p>
        </p:txBody>
      </p:sp>
      <p:sp>
        <p:nvSpPr>
          <p:cNvPr id="137" name="Text 134"/>
          <p:cNvSpPr/>
          <p:nvPr/>
        </p:nvSpPr>
        <p:spPr>
          <a:xfrm>
            <a:off x="2432304" y="6208776"/>
            <a:ext cx="9262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Kemano / BC Works: 896 MW | Nechako Reservoir | ~80 km transmission to Kitimat smelter</a:t>
            </a:r>
            <a:endParaRPr lang="en-US" sz="920" dirty="0"/>
          </a:p>
        </p:txBody>
      </p:sp>
      <p:sp>
        <p:nvSpPr>
          <p:cNvPr id="141" name="Text 138"/>
          <p:cNvSpPr/>
          <p:nvPr/>
        </p:nvSpPr>
        <p:spPr>
          <a:xfrm>
            <a:off x="10762488" y="6739128"/>
            <a:ext cx="10789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SEP 2026  |  2</a:t>
            </a:r>
            <a:endParaRPr lang="en-US" sz="670" dirty="0"/>
          </a:p>
        </p:txBody>
      </p:sp>
      <p:graphicFrame>
        <p:nvGraphicFramePr>
          <p:cNvPr id="241" name="CANADA_HYDRO_GENERATION_PORTFOLIO"/>
          <p:cNvGraphicFramePr>
            <a:graphicFrameLocks noGrp="1"/>
          </p:cNvGraphicFramePr>
          <p:nvPr/>
        </p:nvGraphicFramePr>
        <p:xfrm>
          <a:off x="5285232" y="2359152"/>
          <a:ext cx="6556248" cy="2126893"/>
        </p:xfrm>
        <a:graphic>
          <a:graphicData uri="http://schemas.openxmlformats.org/drawingml/2006/table">
            <a:tbl>
              <a:tblPr/>
              <a:tblGrid>
                <a:gridCol w="274320"/>
                <a:gridCol w="1865376"/>
                <a:gridCol w="594360"/>
                <a:gridCol w="1143000"/>
                <a:gridCol w="2679192"/>
              </a:tblGrid>
              <a:tr h="283464">
                <a:tc>
                  <a:txBody>
                    <a:bodyPr wrap="non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90">
                          <a:latin typeface="Arial"/>
                        </a:defRPr>
                      </a:pPr>
                      <a:endParaRPr sz="109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44214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90">
                          <a:latin typeface="Arial"/>
                        </a:defRPr>
                      </a:pPr>
                      <a:r>
                        <a:rPr sz="1090" b="1">
                          <a:solidFill>
                            <a:srgbClr val="FFFFFF"/>
                          </a:solidFill>
                          <a:latin typeface="Arial"/>
                        </a:rPr>
                        <a:t>Asset</a:t>
                      </a:r>
                      <a:endParaRPr sz="109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44214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90">
                          <a:latin typeface="Arial"/>
                        </a:defRPr>
                      </a:pPr>
                      <a:r>
                        <a:rPr sz="1090" b="1">
                          <a:solidFill>
                            <a:srgbClr val="FFFFFF"/>
                          </a:solidFill>
                          <a:latin typeface="Arial"/>
                        </a:rPr>
                        <a:t>MW</a:t>
                      </a:r>
                      <a:endParaRPr sz="109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44214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90">
                          <a:latin typeface="Arial"/>
                        </a:defRPr>
                      </a:pPr>
                      <a:r>
                        <a:rPr sz="969" b="1">
                          <a:solidFill>
                            <a:srgbClr val="FFFFFF"/>
                          </a:solidFill>
                          <a:latin typeface="Arial"/>
                        </a:rPr>
                        <a:t>Commissioned</a:t>
                      </a:r>
                      <a:endParaRPr sz="109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44214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90">
                          <a:latin typeface="Arial"/>
                        </a:defRPr>
                      </a:pPr>
                      <a:r>
                        <a:rPr sz="1090" b="1">
                          <a:solidFill>
                            <a:srgbClr val="FFFFFF"/>
                          </a:solidFill>
                          <a:latin typeface="Arial"/>
                        </a:rPr>
                        <a:t>Key characteristic</a:t>
                      </a:r>
                      <a:endParaRPr sz="109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442142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3347">
                <a:tc>
                  <a:txBody>
                    <a:bodyPr wrap="non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">
                          <a:latin typeface="Arial"/>
                        </a:defRPr>
                      </a:pPr>
                      <a:r>
                        <a:rPr sz="100">
                          <a:latin typeface="Arial"/>
                        </a:rPr>
                        <a:t> 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0" marB="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70" b="1">
                          <a:solidFill>
                            <a:srgbClr val="3F3F46"/>
                          </a:solidFill>
                          <a:latin typeface="Arial"/>
                        </a:rPr>
                        <a:t>Shipshaw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70" b="0">
                          <a:solidFill>
                            <a:srgbClr val="3F3F46"/>
                          </a:solidFill>
                          <a:latin typeface="Arial"/>
                        </a:rPr>
                        <a:t>1,172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70" b="0">
                          <a:solidFill>
                            <a:srgbClr val="3F3F46"/>
                          </a:solidFill>
                          <a:latin typeface="Arial"/>
                        </a:rPr>
                        <a:t>1943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10" b="0">
                          <a:solidFill>
                            <a:srgbClr val="3F3F46"/>
                          </a:solidFill>
                          <a:latin typeface="Arial"/>
                        </a:rPr>
                        <a:t>Includes 225 MW unit (2012)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3347">
                <a:tc>
                  <a:txBody>
                    <a:bodyPr wrap="non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">
                          <a:latin typeface="Arial"/>
                        </a:defRPr>
                      </a:pPr>
                      <a:r>
                        <a:rPr sz="100">
                          <a:latin typeface="Arial"/>
                        </a:rPr>
                        <a:t> 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0" marB="0" anchor="ctr">
                    <a:solidFill>
                      <a:srgbClr val="F8F9F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70" b="1">
                          <a:solidFill>
                            <a:srgbClr val="3F3F46"/>
                          </a:solidFill>
                          <a:latin typeface="Arial"/>
                        </a:rPr>
                        <a:t>Chute-des-Passes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8F9F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70" b="0">
                          <a:solidFill>
                            <a:srgbClr val="3F3F46"/>
                          </a:solidFill>
                          <a:latin typeface="Arial"/>
                        </a:rPr>
                        <a:t>833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8F9F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70" b="0">
                          <a:solidFill>
                            <a:srgbClr val="3F3F46"/>
                          </a:solidFill>
                          <a:latin typeface="Arial"/>
                        </a:rPr>
                        <a:t>1959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8F9F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10" b="0">
                          <a:solidFill>
                            <a:srgbClr val="3F3F46"/>
                          </a:solidFill>
                          <a:latin typeface="Arial"/>
                        </a:rPr>
                        <a:t>High-head / 195 m maximum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8F9F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3347">
                <a:tc>
                  <a:txBody>
                    <a:bodyPr wrap="non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">
                          <a:latin typeface="Arial"/>
                        </a:defRPr>
                      </a:pPr>
                      <a:r>
                        <a:rPr sz="100">
                          <a:latin typeface="Arial"/>
                        </a:rPr>
                        <a:t> 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0" marB="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70" b="1">
                          <a:solidFill>
                            <a:srgbClr val="3F3F46"/>
                          </a:solidFill>
                          <a:latin typeface="Arial"/>
                        </a:rPr>
                        <a:t>Isle-Maligne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70" b="0">
                          <a:solidFill>
                            <a:srgbClr val="3F3F46"/>
                          </a:solidFill>
                          <a:latin typeface="Arial"/>
                        </a:rPr>
                        <a:t>448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70" b="0">
                          <a:solidFill>
                            <a:srgbClr val="3F3F46"/>
                          </a:solidFill>
                          <a:latin typeface="Arial"/>
                        </a:rPr>
                        <a:t>1926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10" b="0">
                          <a:solidFill>
                            <a:srgbClr val="3F3F46"/>
                          </a:solidFill>
                          <a:latin typeface="Arial"/>
                        </a:rPr>
                        <a:t>Modernization through 2032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3347">
                <a:tc>
                  <a:txBody>
                    <a:bodyPr wrap="non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">
                          <a:latin typeface="Arial"/>
                        </a:defRPr>
                      </a:pPr>
                      <a:r>
                        <a:rPr sz="100">
                          <a:latin typeface="Arial"/>
                        </a:rPr>
                        <a:t> 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0" marB="0" anchor="ctr">
                    <a:solidFill>
                      <a:srgbClr val="F8F9F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70" b="1">
                          <a:solidFill>
                            <a:srgbClr val="3F3F46"/>
                          </a:solidFill>
                          <a:latin typeface="Arial"/>
                        </a:rPr>
                        <a:t>Chute-à-la-Savane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8F9F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70" b="0">
                          <a:solidFill>
                            <a:srgbClr val="3F3F46"/>
                          </a:solidFill>
                          <a:latin typeface="Arial"/>
                        </a:rPr>
                        <a:t>245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8F9F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70" b="0">
                          <a:solidFill>
                            <a:srgbClr val="3F3F46"/>
                          </a:solidFill>
                          <a:latin typeface="Arial"/>
                        </a:rPr>
                        <a:t>1953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8F9F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10" b="0">
                          <a:solidFill>
                            <a:srgbClr val="3F3F46"/>
                          </a:solidFill>
                          <a:latin typeface="Arial"/>
                        </a:rPr>
                        <a:t>34.5 m hydraulic head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8F9F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3347">
                <a:tc>
                  <a:txBody>
                    <a:bodyPr wrap="non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">
                          <a:latin typeface="Arial"/>
                        </a:defRPr>
                      </a:pPr>
                      <a:r>
                        <a:rPr sz="100">
                          <a:latin typeface="Arial"/>
                        </a:rPr>
                        <a:t> 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0" marB="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70" b="1">
                          <a:solidFill>
                            <a:srgbClr val="3F3F46"/>
                          </a:solidFill>
                          <a:latin typeface="Arial"/>
                        </a:rPr>
                        <a:t>Chute-du-Diable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70" b="0">
                          <a:solidFill>
                            <a:srgbClr val="3F3F46"/>
                          </a:solidFill>
                          <a:latin typeface="Arial"/>
                        </a:rPr>
                        <a:t>224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70" b="0">
                          <a:solidFill>
                            <a:srgbClr val="3F3F46"/>
                          </a:solidFill>
                          <a:latin typeface="Arial"/>
                        </a:rPr>
                        <a:t>1952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10" b="0">
                          <a:solidFill>
                            <a:srgbClr val="3F3F46"/>
                          </a:solidFill>
                          <a:latin typeface="Arial"/>
                        </a:rPr>
                        <a:t>33.1 m hydraulic head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3347">
                <a:tc>
                  <a:txBody>
                    <a:bodyPr wrap="non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">
                          <a:latin typeface="Arial"/>
                        </a:defRPr>
                      </a:pPr>
                      <a:r>
                        <a:rPr sz="100">
                          <a:latin typeface="Arial"/>
                        </a:rPr>
                        <a:t> 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0" marB="0" anchor="ctr">
                    <a:solidFill>
                      <a:srgbClr val="F8F9F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70" b="1">
                          <a:solidFill>
                            <a:srgbClr val="3F3F46"/>
                          </a:solidFill>
                          <a:latin typeface="Arial"/>
                        </a:rPr>
                        <a:t>Chute-à-Caron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8F9F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70" b="0">
                          <a:solidFill>
                            <a:srgbClr val="3F3F46"/>
                          </a:solidFill>
                          <a:latin typeface="Arial"/>
                        </a:rPr>
                        <a:t>222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8F9F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70" b="0">
                          <a:solidFill>
                            <a:srgbClr val="3F3F46"/>
                          </a:solidFill>
                          <a:latin typeface="Arial"/>
                        </a:rPr>
                        <a:t>1931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8F9F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10" b="0">
                          <a:solidFill>
                            <a:srgbClr val="3F3F46"/>
                          </a:solidFill>
                          <a:latin typeface="Arial"/>
                        </a:rPr>
                        <a:t>48.8 m hydraulic head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8F9F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3347">
                <a:tc>
                  <a:txBody>
                    <a:bodyPr wrap="non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9F8F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70" b="1">
                          <a:solidFill>
                            <a:srgbClr val="3F3F46"/>
                          </a:solidFill>
                          <a:latin typeface="Arial"/>
                        </a:rPr>
                        <a:t>Total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9F8F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70" b="1">
                          <a:solidFill>
                            <a:srgbClr val="3F3F46"/>
                          </a:solidFill>
                          <a:latin typeface="Arial"/>
                        </a:rPr>
                        <a:t>3,144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9F8F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9F8F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70">
                          <a:latin typeface="Arial"/>
                        </a:defRPr>
                      </a:pPr>
                      <a:r>
                        <a:rPr sz="1010" b="1">
                          <a:solidFill>
                            <a:srgbClr val="3F3F46"/>
                          </a:solidFill>
                          <a:latin typeface="Arial"/>
                        </a:rPr>
                        <a:t>Six hydro stations / Quebec</a:t>
                      </a:r>
                      <a:endParaRPr sz="1070" lang="en-US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63459" marR="50292" marT="32004" marB="32004" anchor="ctr">
                    <a:solidFill>
                      <a:srgbClr val="F9F8FA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053" name="MAP BASE | saguenay | one flattened 600 dpi RGB image" descr="saguenay_base.png"/>
          <p:cNvPicPr>
            <a:picLocks noChangeAspect="1" noMove="1" noResize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3756" y="2345436"/>
            <a:ext cx="4626864" cy="3703320"/>
          </a:xfrm>
          <a:prstGeom prst="rect">
            <a:avLst/>
          </a:prstGeom>
        </p:spPr>
      </p:pic>
      <p:sp>
        <p:nvSpPr>
          <p:cNvPr id="1047" name="TABLE | generation ID 1 | matches map" descr="Asset 1: Shipshaw; map-matched numbered circle"/>
          <p:cNvSpPr/>
          <p:nvPr/>
        </p:nvSpPr>
        <p:spPr>
          <a:xfrm>
            <a:off x="5335524" y="2687421"/>
            <a:ext cx="173736" cy="173736"/>
          </a:xfrm>
          <a:prstGeom prst="ellipse">
            <a:avLst/>
          </a:prstGeom>
          <a:solidFill>
            <a:srgbClr val="442142"/>
          </a:solidFill>
          <a:ln w="14604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8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48" name="TABLE | generation ID 2 | matches map" descr="Asset 2: Chute-des-Passes; map-matched numbered circle"/>
          <p:cNvSpPr/>
          <p:nvPr/>
        </p:nvSpPr>
        <p:spPr>
          <a:xfrm>
            <a:off x="5335524" y="2950768"/>
            <a:ext cx="173736" cy="173736"/>
          </a:xfrm>
          <a:prstGeom prst="ellipse">
            <a:avLst/>
          </a:prstGeom>
          <a:solidFill>
            <a:srgbClr val="442142"/>
          </a:solidFill>
          <a:ln w="14604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8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49" name="TABLE | generation ID 3 | matches map" descr="Asset 3: Isle-Maligne; map-matched numbered circle"/>
          <p:cNvSpPr/>
          <p:nvPr/>
        </p:nvSpPr>
        <p:spPr>
          <a:xfrm>
            <a:off x="5335524" y="3214115"/>
            <a:ext cx="173736" cy="173736"/>
          </a:xfrm>
          <a:prstGeom prst="ellipse">
            <a:avLst/>
          </a:prstGeom>
          <a:solidFill>
            <a:srgbClr val="442142"/>
          </a:solidFill>
          <a:ln w="14604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8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50" name="TABLE | generation ID 4 | matches map" descr="Asset 4: Chute-à-la-Savane; map-matched numbered circle"/>
          <p:cNvSpPr/>
          <p:nvPr/>
        </p:nvSpPr>
        <p:spPr>
          <a:xfrm>
            <a:off x="5335524" y="3477462"/>
            <a:ext cx="173736" cy="173736"/>
          </a:xfrm>
          <a:prstGeom prst="ellipse">
            <a:avLst/>
          </a:prstGeom>
          <a:solidFill>
            <a:srgbClr val="442142"/>
          </a:solidFill>
          <a:ln w="14604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8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51" name="TABLE | generation ID 5 | matches map" descr="Asset 5: Chute-du-Diable; map-matched numbered circle"/>
          <p:cNvSpPr/>
          <p:nvPr/>
        </p:nvSpPr>
        <p:spPr>
          <a:xfrm>
            <a:off x="5335524" y="3740809"/>
            <a:ext cx="173736" cy="173736"/>
          </a:xfrm>
          <a:prstGeom prst="ellipse">
            <a:avLst/>
          </a:prstGeom>
          <a:solidFill>
            <a:srgbClr val="442142"/>
          </a:solidFill>
          <a:ln w="14604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8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52" name="TABLE | generation ID 6 | matches map" descr="Asset 6: Chute-à-Caron; map-matched numbered circle"/>
          <p:cNvSpPr/>
          <p:nvPr/>
        </p:nvSpPr>
        <p:spPr>
          <a:xfrm>
            <a:off x="5335524" y="4004156"/>
            <a:ext cx="173736" cy="173736"/>
          </a:xfrm>
          <a:prstGeom prst="ellipse">
            <a:avLst/>
          </a:prstGeom>
          <a:solidFill>
            <a:srgbClr val="442142"/>
          </a:solidFill>
          <a:ln w="14604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80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054" name="MAP OVERLAY | 000 | label | Generation, generalized corridors and selected loads"/>
          <p:cNvSpPr txBox="1"/>
          <p:nvPr/>
        </p:nvSpPr>
        <p:spPr>
          <a:xfrm>
            <a:off x="443484" y="2382012"/>
            <a:ext cx="4407408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6B7280"/>
                </a:solidFill>
                <a:latin typeface="Arial"/>
              </a:rPr>
              <a:t>Generation, generalized corridors and selected loads</a:t>
            </a:r>
          </a:p>
        </p:txBody>
      </p:sp>
      <p:sp>
        <p:nvSpPr>
          <p:cNvPr id="1055" name="MAP OVERLAY | 001 | generation ID 2"/>
          <p:cNvSpPr/>
          <p:nvPr/>
        </p:nvSpPr>
        <p:spPr>
          <a:xfrm>
            <a:off x="2704158" y="3698850"/>
            <a:ext cx="173736" cy="173736"/>
          </a:xfrm>
          <a:prstGeom prst="ellipse">
            <a:avLst/>
          </a:prstGeom>
          <a:solidFill>
            <a:srgbClr val="442142"/>
          </a:solidFill>
          <a:ln w="14604">
            <a:solidFill>
              <a:srgbClr val="FFFFFF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56" name="MAP OVERLAY | 002 | label | Chute-des-Passes"/>
          <p:cNvSpPr txBox="1"/>
          <p:nvPr/>
        </p:nvSpPr>
        <p:spPr>
          <a:xfrm>
            <a:off x="2919042" y="3721710"/>
            <a:ext cx="1508760" cy="1554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442142"/>
                </a:solidFill>
                <a:latin typeface="Arial"/>
              </a:rPr>
              <a:t>Chute-des-Passes</a:t>
            </a:r>
          </a:p>
        </p:txBody>
      </p:sp>
      <p:sp>
        <p:nvSpPr>
          <p:cNvPr id="1057" name="MAP OVERLAY | 003 | label | 833 MW"/>
          <p:cNvSpPr txBox="1"/>
          <p:nvPr/>
        </p:nvSpPr>
        <p:spPr>
          <a:xfrm>
            <a:off x="2919042" y="3886302"/>
            <a:ext cx="621792" cy="118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6B43"/>
                </a:solidFill>
                <a:latin typeface="Arial"/>
              </a:rPr>
              <a:t>833 MW</a:t>
            </a:r>
          </a:p>
        </p:txBody>
      </p:sp>
      <p:sp>
        <p:nvSpPr>
          <p:cNvPr id="1058" name="MAP OVERLAY | 004 | label | Lac Manouane"/>
          <p:cNvSpPr txBox="1"/>
          <p:nvPr/>
        </p:nvSpPr>
        <p:spPr>
          <a:xfrm>
            <a:off x="3189660" y="2928486"/>
            <a:ext cx="1078992" cy="137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1">
                <a:solidFill>
                  <a:srgbClr val="8794A0"/>
                </a:solidFill>
                <a:latin typeface="Arial"/>
              </a:rPr>
              <a:t>Lac Manouane</a:t>
            </a:r>
          </a:p>
        </p:txBody>
      </p:sp>
      <p:sp>
        <p:nvSpPr>
          <p:cNvPr id="1059" name="MAP OVERLAY | 005 | label | Passes-Dangereuses"/>
          <p:cNvSpPr txBox="1"/>
          <p:nvPr/>
        </p:nvSpPr>
        <p:spPr>
          <a:xfrm>
            <a:off x="1245437" y="3428514"/>
            <a:ext cx="1353312" cy="1463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1">
                <a:solidFill>
                  <a:srgbClr val="8794A0"/>
                </a:solidFill>
                <a:latin typeface="Arial"/>
              </a:rPr>
              <a:t>Passes-Dangereuses</a:t>
            </a:r>
          </a:p>
        </p:txBody>
      </p:sp>
      <p:sp>
        <p:nvSpPr>
          <p:cNvPr id="1060" name="MAP OVERLAY | 006 | label | Lac Saint-Jean"/>
          <p:cNvSpPr txBox="1"/>
          <p:nvPr/>
        </p:nvSpPr>
        <p:spPr>
          <a:xfrm>
            <a:off x="1202436" y="5065776"/>
            <a:ext cx="1005840" cy="137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1">
                <a:solidFill>
                  <a:srgbClr val="8794A0"/>
                </a:solidFill>
                <a:latin typeface="Arial"/>
              </a:rPr>
              <a:t>Lac Saint-Jean</a:t>
            </a:r>
          </a:p>
        </p:txBody>
      </p:sp>
      <p:sp>
        <p:nvSpPr>
          <p:cNvPr id="1061" name="MAP OVERLAY | 007 | generation ID 4"/>
          <p:cNvSpPr/>
          <p:nvPr/>
        </p:nvSpPr>
        <p:spPr>
          <a:xfrm>
            <a:off x="1908766" y="4755358"/>
            <a:ext cx="173736" cy="173736"/>
          </a:xfrm>
          <a:prstGeom prst="ellipse">
            <a:avLst/>
          </a:prstGeom>
          <a:solidFill>
            <a:srgbClr val="442142"/>
          </a:solidFill>
          <a:ln w="14604">
            <a:solidFill>
              <a:srgbClr val="FFFFFF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62" name="MAP OVERLAY | 008 | generation ID 5"/>
          <p:cNvSpPr/>
          <p:nvPr/>
        </p:nvSpPr>
        <p:spPr>
          <a:xfrm>
            <a:off x="2624327" y="4379976"/>
            <a:ext cx="173736" cy="173736"/>
          </a:xfrm>
          <a:prstGeom prst="ellipse">
            <a:avLst/>
          </a:prstGeom>
          <a:solidFill>
            <a:srgbClr val="442142"/>
          </a:solidFill>
          <a:ln w="14604">
            <a:solidFill>
              <a:srgbClr val="FFFFFF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63" name="MAP OVERLAY | 009 | generation ID 3"/>
          <p:cNvSpPr/>
          <p:nvPr/>
        </p:nvSpPr>
        <p:spPr>
          <a:xfrm>
            <a:off x="2064583" y="5221224"/>
            <a:ext cx="173736" cy="173736"/>
          </a:xfrm>
          <a:prstGeom prst="ellipse">
            <a:avLst/>
          </a:prstGeom>
          <a:solidFill>
            <a:srgbClr val="442142"/>
          </a:solidFill>
          <a:ln w="14604">
            <a:solidFill>
              <a:srgbClr val="FFFFFF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64" name="MAP OVERLAY | 010 | label | Chute-à-la-Savane"/>
          <p:cNvSpPr txBox="1"/>
          <p:nvPr/>
        </p:nvSpPr>
        <p:spPr>
          <a:xfrm>
            <a:off x="770338" y="4773646"/>
            <a:ext cx="1106424" cy="1554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442142"/>
                </a:solidFill>
                <a:latin typeface="Arial"/>
              </a:rPr>
              <a:t>Chute-à-la-Savane</a:t>
            </a:r>
          </a:p>
        </p:txBody>
      </p:sp>
      <p:sp>
        <p:nvSpPr>
          <p:cNvPr id="1065" name="MAP OVERLAY | 011 | label | Chute-du-Diable"/>
          <p:cNvSpPr txBox="1"/>
          <p:nvPr/>
        </p:nvSpPr>
        <p:spPr>
          <a:xfrm>
            <a:off x="1412748" y="4398264"/>
            <a:ext cx="1170432" cy="1554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442142"/>
                </a:solidFill>
                <a:latin typeface="Arial"/>
              </a:rPr>
              <a:t>Chute-du-Diable</a:t>
            </a:r>
          </a:p>
        </p:txBody>
      </p:sp>
      <p:sp>
        <p:nvSpPr>
          <p:cNvPr id="1066" name="MAP OVERLAY | 012 | label | Isle-Maligne"/>
          <p:cNvSpPr txBox="1"/>
          <p:nvPr/>
        </p:nvSpPr>
        <p:spPr>
          <a:xfrm>
            <a:off x="1246195" y="5230368"/>
            <a:ext cx="777240" cy="1554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442142"/>
                </a:solidFill>
                <a:latin typeface="Arial"/>
              </a:rPr>
              <a:t>Isle-Maligne</a:t>
            </a:r>
          </a:p>
        </p:txBody>
      </p:sp>
      <p:sp>
        <p:nvSpPr>
          <p:cNvPr id="1067" name="MAP OVERLAY | 013 | label | Alma"/>
          <p:cNvSpPr txBox="1"/>
          <p:nvPr/>
        </p:nvSpPr>
        <p:spPr>
          <a:xfrm>
            <a:off x="2564860" y="4911901"/>
            <a:ext cx="347472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B7280"/>
                </a:solidFill>
                <a:latin typeface="Arial"/>
              </a:rPr>
              <a:t>Alma</a:t>
            </a:r>
          </a:p>
        </p:txBody>
      </p:sp>
      <p:sp>
        <p:nvSpPr>
          <p:cNvPr id="1068" name="MAP OVERLAY | 014 | label | Dolbeau-Mistassini"/>
          <p:cNvSpPr txBox="1"/>
          <p:nvPr/>
        </p:nvSpPr>
        <p:spPr>
          <a:xfrm>
            <a:off x="973836" y="4631436"/>
            <a:ext cx="1097280" cy="118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B7280"/>
                </a:solidFill>
                <a:latin typeface="Arial"/>
              </a:rPr>
              <a:t>Dolbeau-Mistassini</a:t>
            </a:r>
          </a:p>
        </p:txBody>
      </p:sp>
      <p:sp>
        <p:nvSpPr>
          <p:cNvPr id="1069" name="MAP OVERLAY | 015 | label | Saguenay loads"/>
          <p:cNvSpPr txBox="1"/>
          <p:nvPr/>
        </p:nvSpPr>
        <p:spPr>
          <a:xfrm>
            <a:off x="3095244" y="5207508"/>
            <a:ext cx="1005840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6B7280"/>
                </a:solidFill>
                <a:latin typeface="Arial"/>
              </a:rPr>
              <a:t>Saguenay loads</a:t>
            </a:r>
          </a:p>
        </p:txBody>
      </p:sp>
      <p:sp>
        <p:nvSpPr>
          <p:cNvPr id="1070" name="MAP OVERLAY | 016 | label | Arvida / AP60 · Grande-Baie · Laterrière · PLS-Dubuc"/>
          <p:cNvSpPr txBox="1"/>
          <p:nvPr/>
        </p:nvSpPr>
        <p:spPr>
          <a:xfrm>
            <a:off x="3040380" y="5353812"/>
            <a:ext cx="1828800" cy="118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30" b="0" i="0">
                <a:solidFill>
                  <a:srgbClr val="6B7280"/>
                </a:solidFill>
                <a:latin typeface="Arial"/>
              </a:rPr>
              <a:t>Arvida / AP60 · Grande-Baie · Laterrière · PLS-Dubuc</a:t>
            </a:r>
          </a:p>
        </p:txBody>
      </p:sp>
      <p:sp>
        <p:nvSpPr>
          <p:cNvPr id="1071" name="MAP OVERLAY | 017 | inset / legend border"/>
          <p:cNvSpPr/>
          <p:nvPr/>
        </p:nvSpPr>
        <p:spPr>
          <a:xfrm>
            <a:off x="3259836" y="4146804"/>
            <a:ext cx="1554480" cy="960120"/>
          </a:xfrm>
          <a:prstGeom prst="rect">
            <a:avLst/>
          </a:prstGeom>
          <a:noFill/>
          <a:ln w="762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2" name="MAP OVERLAY | 018 | label | SAGUENAY DETAIL"/>
          <p:cNvSpPr txBox="1"/>
          <p:nvPr/>
        </p:nvSpPr>
        <p:spPr>
          <a:xfrm>
            <a:off x="3314700" y="4197096"/>
            <a:ext cx="1444752" cy="1097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766B43"/>
                </a:solidFill>
                <a:latin typeface="Arial"/>
              </a:rPr>
              <a:t>SAGUENAY DETAIL</a:t>
            </a:r>
          </a:p>
        </p:txBody>
      </p:sp>
      <p:sp>
        <p:nvSpPr>
          <p:cNvPr id="1073" name="MAP OVERLAY | 019 | label | Plant locations · hydraulic channels omitted"/>
          <p:cNvSpPr txBox="1"/>
          <p:nvPr/>
        </p:nvSpPr>
        <p:spPr>
          <a:xfrm>
            <a:off x="3314700" y="5001768"/>
            <a:ext cx="1444752" cy="91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" b="0" i="0">
                <a:solidFill>
                  <a:srgbClr val="6B7280"/>
                </a:solidFill>
                <a:latin typeface="Arial"/>
              </a:rPr>
              <a:t>Plant locations · hydraulic channels omitted</a:t>
            </a:r>
          </a:p>
        </p:txBody>
      </p:sp>
      <p:cxnSp>
        <p:nvCxnSpPr>
          <p:cNvPr id="1074" name="MAP OVERLAY | 020 | legend / scale line"/>
          <p:cNvCxnSpPr/>
          <p:nvPr/>
        </p:nvCxnSpPr>
        <p:spPr>
          <a:xfrm>
            <a:off x="3360420" y="4805172"/>
            <a:ext cx="408940" cy="0"/>
          </a:xfrm>
          <a:prstGeom prst="line">
            <a:avLst/>
          </a:prstGeom>
          <a:ln w="8890">
            <a:solidFill>
              <a:srgbClr val="3F3F46"/>
            </a:solidFill>
          </a:ln>
        </p:spPr>
      </p:cxnSp>
      <p:cxnSp>
        <p:nvCxnSpPr>
          <p:cNvPr id="1075" name="MAP OVERLAY | 021 | legend / scale line"/>
          <p:cNvCxnSpPr/>
          <p:nvPr/>
        </p:nvCxnSpPr>
        <p:spPr>
          <a:xfrm>
            <a:off x="3360420" y="4783226"/>
            <a:ext cx="0" cy="43891"/>
          </a:xfrm>
          <a:prstGeom prst="line">
            <a:avLst/>
          </a:prstGeom>
          <a:ln w="8890">
            <a:solidFill>
              <a:srgbClr val="3F3F46"/>
            </a:solidFill>
          </a:ln>
        </p:spPr>
      </p:cxnSp>
      <p:cxnSp>
        <p:nvCxnSpPr>
          <p:cNvPr id="1076" name="MAP OVERLAY | 022 | legend / scale line"/>
          <p:cNvCxnSpPr/>
          <p:nvPr/>
        </p:nvCxnSpPr>
        <p:spPr>
          <a:xfrm>
            <a:off x="3769360" y="4783226"/>
            <a:ext cx="0" cy="43891"/>
          </a:xfrm>
          <a:prstGeom prst="line">
            <a:avLst/>
          </a:prstGeom>
          <a:ln w="8890">
            <a:solidFill>
              <a:srgbClr val="3F3F46"/>
            </a:solidFill>
          </a:ln>
        </p:spPr>
      </p:cxnSp>
      <p:sp>
        <p:nvSpPr>
          <p:cNvPr id="1077" name="MAP OVERLAY | 023 | label | 0"/>
          <p:cNvSpPr txBox="1"/>
          <p:nvPr/>
        </p:nvSpPr>
        <p:spPr>
          <a:xfrm>
            <a:off x="3348532" y="4841748"/>
            <a:ext cx="91440" cy="1005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3F3F46"/>
                </a:solidFill>
                <a:latin typeface="Arial"/>
              </a:rPr>
              <a:t>0</a:t>
            </a:r>
          </a:p>
        </p:txBody>
      </p:sp>
      <p:sp>
        <p:nvSpPr>
          <p:cNvPr id="1078" name="MAP OVERLAY | 024 | label | 5 km"/>
          <p:cNvSpPr txBox="1"/>
          <p:nvPr/>
        </p:nvSpPr>
        <p:spPr>
          <a:xfrm>
            <a:off x="3613912" y="4841748"/>
            <a:ext cx="320040" cy="1005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3F3F46"/>
                </a:solidFill>
                <a:latin typeface="Arial"/>
              </a:rPr>
              <a:t>5 km</a:t>
            </a:r>
          </a:p>
        </p:txBody>
      </p:sp>
      <p:sp>
        <p:nvSpPr>
          <p:cNvPr id="1079" name="MAP OVERLAY | 025 | generation ID 1"/>
          <p:cNvSpPr/>
          <p:nvPr/>
        </p:nvSpPr>
        <p:spPr>
          <a:xfrm>
            <a:off x="3960493" y="4528320"/>
            <a:ext cx="173736" cy="173736"/>
          </a:xfrm>
          <a:prstGeom prst="ellipse">
            <a:avLst/>
          </a:prstGeom>
          <a:solidFill>
            <a:srgbClr val="442142"/>
          </a:solidFill>
          <a:ln w="14604">
            <a:solidFill>
              <a:srgbClr val="FFFFFF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80" name="MAP OVERLAY | 026 | generation ID 6"/>
          <p:cNvSpPr/>
          <p:nvPr/>
        </p:nvSpPr>
        <p:spPr>
          <a:xfrm>
            <a:off x="3727563" y="4506894"/>
            <a:ext cx="173736" cy="173736"/>
          </a:xfrm>
          <a:prstGeom prst="ellipse">
            <a:avLst/>
          </a:prstGeom>
          <a:solidFill>
            <a:srgbClr val="442142"/>
          </a:solidFill>
          <a:ln w="14604">
            <a:solidFill>
              <a:srgbClr val="FFFFFF"/>
            </a:solidFill>
          </a:ln>
        </p:spPr>
        <p:txBody>
          <a:bodyPr rtlCol="0" anchor="ctr" wrap="non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081" name="MAP OVERLAY | 027 | label | Chute-à-Caron"/>
          <p:cNvSpPr txBox="1"/>
          <p:nvPr/>
        </p:nvSpPr>
        <p:spPr>
          <a:xfrm>
            <a:off x="3314700" y="4366260"/>
            <a:ext cx="804672" cy="118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442142"/>
                </a:solidFill>
                <a:latin typeface="Arial"/>
              </a:rPr>
              <a:t>Chute-à-Caron</a:t>
            </a:r>
          </a:p>
        </p:txBody>
      </p:sp>
      <p:sp>
        <p:nvSpPr>
          <p:cNvPr id="1082" name="MAP OVERLAY | 028 | label | Shipshaw"/>
          <p:cNvSpPr txBox="1"/>
          <p:nvPr/>
        </p:nvSpPr>
        <p:spPr>
          <a:xfrm>
            <a:off x="4165092" y="4366260"/>
            <a:ext cx="576072" cy="118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442142"/>
                </a:solidFill>
                <a:latin typeface="Arial"/>
              </a:rPr>
              <a:t>Shipshaw</a:t>
            </a:r>
          </a:p>
        </p:txBody>
      </p:sp>
      <p:sp>
        <p:nvSpPr>
          <p:cNvPr id="1083" name="MAP OVERLAY | 029 | label | Arvida / AP60"/>
          <p:cNvSpPr txBox="1"/>
          <p:nvPr/>
        </p:nvSpPr>
        <p:spPr>
          <a:xfrm>
            <a:off x="4064508" y="4823460"/>
            <a:ext cx="640080" cy="118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6B7280"/>
                </a:solidFill>
                <a:latin typeface="Arial"/>
              </a:rPr>
              <a:t>Arvida / AP60</a:t>
            </a:r>
          </a:p>
        </p:txBody>
      </p:sp>
      <p:sp>
        <p:nvSpPr>
          <p:cNvPr id="1084" name="MAP OVERLAY | 030 | inset / legend border"/>
          <p:cNvSpPr/>
          <p:nvPr/>
        </p:nvSpPr>
        <p:spPr>
          <a:xfrm>
            <a:off x="480060" y="2692908"/>
            <a:ext cx="813816" cy="658368"/>
          </a:xfrm>
          <a:prstGeom prst="rect">
            <a:avLst/>
          </a:prstGeom>
          <a:noFill/>
          <a:ln w="762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5" name="MAP OVERLAY | 031 | label | SAGUENAY, QC"/>
          <p:cNvSpPr txBox="1"/>
          <p:nvPr/>
        </p:nvSpPr>
        <p:spPr>
          <a:xfrm>
            <a:off x="498347" y="3218688"/>
            <a:ext cx="777240" cy="118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70" b="1" i="0">
                <a:solidFill>
                  <a:srgbClr val="3F3F46"/>
                </a:solidFill>
                <a:latin typeface="Arial"/>
              </a:rPr>
              <a:t>SAGUENAY, QC</a:t>
            </a:r>
          </a:p>
        </p:txBody>
      </p:sp>
      <p:sp>
        <p:nvSpPr>
          <p:cNvPr id="1086" name="MAP OVERLAY | 032 | label | N"/>
          <p:cNvSpPr txBox="1"/>
          <p:nvPr/>
        </p:nvSpPr>
        <p:spPr>
          <a:xfrm>
            <a:off x="4663440" y="2683764"/>
            <a:ext cx="118872" cy="118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6B7280"/>
                </a:solidFill>
                <a:latin typeface="Arial"/>
              </a:rPr>
              <a:t>N</a:t>
            </a:r>
          </a:p>
        </p:txBody>
      </p:sp>
      <p:sp>
        <p:nvSpPr>
          <p:cNvPr id="1087" name="MAP OVERLAY | 033 | label | Q U É B E C"/>
          <p:cNvSpPr txBox="1"/>
          <p:nvPr/>
        </p:nvSpPr>
        <p:spPr>
          <a:xfrm>
            <a:off x="525780" y="3808476"/>
            <a:ext cx="1078992" cy="164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794A0"/>
                </a:solidFill>
                <a:latin typeface="Arial"/>
              </a:rPr>
              <a:t>Q U É B E C</a:t>
            </a:r>
          </a:p>
        </p:txBody>
      </p:sp>
      <p:sp>
        <p:nvSpPr>
          <p:cNvPr id="1088" name="MAP OVERLAY | 034 | label | Péribonka River"/>
          <p:cNvSpPr txBox="1"/>
          <p:nvPr/>
        </p:nvSpPr>
        <p:spPr>
          <a:xfrm>
            <a:off x="2958084" y="4027932"/>
            <a:ext cx="1060704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1">
                <a:solidFill>
                  <a:srgbClr val="8794A0"/>
                </a:solidFill>
                <a:latin typeface="Arial"/>
              </a:rPr>
              <a:t>Péribonka River</a:t>
            </a:r>
          </a:p>
        </p:txBody>
      </p:sp>
      <p:cxnSp>
        <p:nvCxnSpPr>
          <p:cNvPr id="1089" name="MAP OVERLAY | 035 | legend / scale line"/>
          <p:cNvCxnSpPr/>
          <p:nvPr/>
        </p:nvCxnSpPr>
        <p:spPr>
          <a:xfrm>
            <a:off x="516635" y="5207508"/>
            <a:ext cx="427871" cy="0"/>
          </a:xfrm>
          <a:prstGeom prst="line">
            <a:avLst/>
          </a:prstGeom>
          <a:ln w="8890">
            <a:solidFill>
              <a:srgbClr val="3F3F46"/>
            </a:solidFill>
          </a:ln>
        </p:spPr>
      </p:cxnSp>
      <p:cxnSp>
        <p:nvCxnSpPr>
          <p:cNvPr id="1090" name="MAP OVERLAY | 036 | legend / scale line"/>
          <p:cNvCxnSpPr/>
          <p:nvPr/>
        </p:nvCxnSpPr>
        <p:spPr>
          <a:xfrm>
            <a:off x="516635" y="5185562"/>
            <a:ext cx="0" cy="43891"/>
          </a:xfrm>
          <a:prstGeom prst="line">
            <a:avLst/>
          </a:prstGeom>
          <a:ln w="8890">
            <a:solidFill>
              <a:srgbClr val="3F3F46"/>
            </a:solidFill>
          </a:ln>
        </p:spPr>
      </p:cxnSp>
      <p:cxnSp>
        <p:nvCxnSpPr>
          <p:cNvPr id="1091" name="MAP OVERLAY | 037 | legend / scale line"/>
          <p:cNvCxnSpPr/>
          <p:nvPr/>
        </p:nvCxnSpPr>
        <p:spPr>
          <a:xfrm>
            <a:off x="944506" y="5185562"/>
            <a:ext cx="0" cy="43891"/>
          </a:xfrm>
          <a:prstGeom prst="line">
            <a:avLst/>
          </a:prstGeom>
          <a:ln w="8890">
            <a:solidFill>
              <a:srgbClr val="3F3F46"/>
            </a:solidFill>
          </a:ln>
        </p:spPr>
      </p:cxnSp>
      <p:sp>
        <p:nvSpPr>
          <p:cNvPr id="1092" name="MAP OVERLAY | 038 | label | 0"/>
          <p:cNvSpPr txBox="1"/>
          <p:nvPr/>
        </p:nvSpPr>
        <p:spPr>
          <a:xfrm>
            <a:off x="504748" y="5244083"/>
            <a:ext cx="91440" cy="1005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3F3F46"/>
                </a:solidFill>
                <a:latin typeface="Arial"/>
              </a:rPr>
              <a:t>0</a:t>
            </a:r>
          </a:p>
        </p:txBody>
      </p:sp>
      <p:sp>
        <p:nvSpPr>
          <p:cNvPr id="1093" name="MAP OVERLAY | 039 | label | 50 km"/>
          <p:cNvSpPr txBox="1"/>
          <p:nvPr/>
        </p:nvSpPr>
        <p:spPr>
          <a:xfrm>
            <a:off x="789058" y="5244083"/>
            <a:ext cx="320040" cy="1005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3F3F46"/>
                </a:solidFill>
                <a:latin typeface="Arial"/>
              </a:rPr>
              <a:t>50 km</a:t>
            </a:r>
          </a:p>
        </p:txBody>
      </p:sp>
      <p:sp>
        <p:nvSpPr>
          <p:cNvPr id="1094" name="MAP OVERLAY | 040 | inset / legend border"/>
          <p:cNvSpPr/>
          <p:nvPr/>
        </p:nvSpPr>
        <p:spPr>
          <a:xfrm>
            <a:off x="425196" y="5527548"/>
            <a:ext cx="4443984" cy="438912"/>
          </a:xfrm>
          <a:prstGeom prst="rect">
            <a:avLst/>
          </a:prstGeom>
          <a:noFill/>
          <a:ln w="762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5" name="MAP OVERLAY | 041 | legend symbol"/>
          <p:cNvSpPr/>
          <p:nvPr/>
        </p:nvSpPr>
        <p:spPr>
          <a:xfrm>
            <a:off x="544068" y="5596128"/>
            <a:ext cx="73152" cy="73152"/>
          </a:xfrm>
          <a:prstGeom prst="ellipse">
            <a:avLst/>
          </a:prstGeom>
          <a:solidFill>
            <a:srgbClr val="442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6" name="MAP OVERLAY | 042 | label | Hydro station"/>
          <p:cNvSpPr txBox="1"/>
          <p:nvPr/>
        </p:nvSpPr>
        <p:spPr>
          <a:xfrm>
            <a:off x="763524" y="5575096"/>
            <a:ext cx="1188720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3F3F46"/>
                </a:solidFill>
                <a:latin typeface="Arial"/>
              </a:rPr>
              <a:t>Hydro station</a:t>
            </a:r>
          </a:p>
        </p:txBody>
      </p:sp>
      <p:sp>
        <p:nvSpPr>
          <p:cNvPr id="1097" name="MAP OVERLAY | 043 | legend symbol"/>
          <p:cNvSpPr/>
          <p:nvPr/>
        </p:nvSpPr>
        <p:spPr>
          <a:xfrm>
            <a:off x="2025395" y="5596128"/>
            <a:ext cx="73152" cy="73152"/>
          </a:xfrm>
          <a:prstGeom prst="diamond">
            <a:avLst/>
          </a:prstGeom>
          <a:solidFill>
            <a:srgbClr val="8794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8" name="MAP OVERLAY | 044 | label | Aluminium / load"/>
          <p:cNvSpPr txBox="1"/>
          <p:nvPr/>
        </p:nvSpPr>
        <p:spPr>
          <a:xfrm>
            <a:off x="2244852" y="5575096"/>
            <a:ext cx="1188720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3F3F46"/>
                </a:solidFill>
                <a:latin typeface="Arial"/>
              </a:rPr>
              <a:t>Aluminium / load</a:t>
            </a:r>
          </a:p>
        </p:txBody>
      </p:sp>
      <p:sp>
        <p:nvSpPr>
          <p:cNvPr id="1099" name="MAP OVERLAY | 045 | legend symbol"/>
          <p:cNvSpPr/>
          <p:nvPr/>
        </p:nvSpPr>
        <p:spPr>
          <a:xfrm>
            <a:off x="3506724" y="5596128"/>
            <a:ext cx="73152" cy="73152"/>
          </a:xfrm>
          <a:prstGeom prst="rect">
            <a:avLst/>
          </a:prstGeom>
          <a:solidFill>
            <a:srgbClr val="E6EFF3"/>
          </a:solidFill>
          <a:ln w="7620">
            <a:solidFill>
              <a:srgbClr val="879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0" name="MAP OVERLAY | 046 | label | Lake / reservoir"/>
          <p:cNvSpPr txBox="1"/>
          <p:nvPr/>
        </p:nvSpPr>
        <p:spPr>
          <a:xfrm>
            <a:off x="3726180" y="5575096"/>
            <a:ext cx="1188720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3F3F46"/>
                </a:solidFill>
                <a:latin typeface="Arial"/>
              </a:rPr>
              <a:t>Lake / reservoir</a:t>
            </a:r>
          </a:p>
        </p:txBody>
      </p:sp>
      <p:cxnSp>
        <p:nvCxnSpPr>
          <p:cNvPr id="1101" name="MAP OVERLAY | 047 | legend / scale line"/>
          <p:cNvCxnSpPr/>
          <p:nvPr/>
        </p:nvCxnSpPr>
        <p:spPr>
          <a:xfrm>
            <a:off x="512064" y="5824728"/>
            <a:ext cx="196596" cy="0"/>
          </a:xfrm>
          <a:prstGeom prst="line">
            <a:avLst/>
          </a:prstGeom>
          <a:ln w="13335">
            <a:solidFill>
              <a:srgbClr val="B4A87D"/>
            </a:solidFill>
          </a:ln>
        </p:spPr>
      </p:cxnSp>
      <p:sp>
        <p:nvSpPr>
          <p:cNvPr id="1102" name="MAP OVERLAY | 048 | label | Transmission"/>
          <p:cNvSpPr txBox="1"/>
          <p:nvPr/>
        </p:nvSpPr>
        <p:spPr>
          <a:xfrm>
            <a:off x="763524" y="5767120"/>
            <a:ext cx="1188720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3F3F46"/>
                </a:solidFill>
                <a:latin typeface="Arial"/>
              </a:rPr>
              <a:t>Transmission</a:t>
            </a:r>
          </a:p>
        </p:txBody>
      </p:sp>
      <p:cxnSp>
        <p:nvCxnSpPr>
          <p:cNvPr id="1103" name="MAP OVERLAY | 049 | legend / scale line"/>
          <p:cNvCxnSpPr/>
          <p:nvPr/>
        </p:nvCxnSpPr>
        <p:spPr>
          <a:xfrm>
            <a:off x="1993392" y="5824728"/>
            <a:ext cx="196596" cy="0"/>
          </a:xfrm>
          <a:prstGeom prst="line">
            <a:avLst/>
          </a:prstGeom>
          <a:ln w="8890">
            <a:solidFill>
              <a:srgbClr val="A6BFCA"/>
            </a:solidFill>
          </a:ln>
        </p:spPr>
      </p:cxnSp>
      <p:sp>
        <p:nvSpPr>
          <p:cNvPr id="1104" name="MAP OVERLAY | 050 | label | River"/>
          <p:cNvSpPr txBox="1"/>
          <p:nvPr/>
        </p:nvSpPr>
        <p:spPr>
          <a:xfrm>
            <a:off x="2244852" y="5767120"/>
            <a:ext cx="1188720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3F3F46"/>
                </a:solidFill>
                <a:latin typeface="Arial"/>
              </a:rPr>
              <a:t>River</a:t>
            </a:r>
          </a:p>
        </p:txBody>
      </p:sp>
      <p:sp>
        <p:nvSpPr>
          <p:cNvPr id="1105" name="MAP OVERLAY | 051 | legend symbol"/>
          <p:cNvSpPr/>
          <p:nvPr/>
        </p:nvSpPr>
        <p:spPr>
          <a:xfrm>
            <a:off x="3477920" y="5806897"/>
            <a:ext cx="35661" cy="35661"/>
          </a:xfrm>
          <a:prstGeom prst="ellipse">
            <a:avLst/>
          </a:prstGeom>
          <a:solidFill>
            <a:srgbClr val="442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06" name="MAP OVERLAY | 052 | legend / scale line"/>
          <p:cNvCxnSpPr/>
          <p:nvPr/>
        </p:nvCxnSpPr>
        <p:spPr>
          <a:xfrm>
            <a:off x="3529584" y="5824728"/>
            <a:ext cx="132588" cy="0"/>
          </a:xfrm>
          <a:prstGeom prst="line">
            <a:avLst/>
          </a:prstGeom>
          <a:ln w="6985">
            <a:solidFill>
              <a:srgbClr val="8794A0"/>
            </a:solidFill>
          </a:ln>
        </p:spPr>
      </p:cxnSp>
      <p:sp>
        <p:nvSpPr>
          <p:cNvPr id="1107" name="MAP OVERLAY | 053 | label | Site / label leader"/>
          <p:cNvSpPr txBox="1"/>
          <p:nvPr/>
        </p:nvSpPr>
        <p:spPr>
          <a:xfrm>
            <a:off x="3726180" y="5767120"/>
            <a:ext cx="1188720" cy="1280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3F3F46"/>
                </a:solidFill>
                <a:latin typeface="Arial"/>
              </a:rPr>
              <a:t>Site / label leader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2916720" y="411480"/>
            <a:ext cx="356" cy="292316"/>
          </a:xfrm>
          <a:prstGeom prst="line">
            <a:avLst/>
          </a:prstGeom>
          <a:noFill/>
          <a:ln w="12600">
            <a:solidFill>
              <a:srgbClr val="E5E7EB"/>
            </a:solidFill>
            <a:prstDash val="solid"/>
          </a:ln>
        </p:spPr>
      </p:sp>
      <p:sp>
        <p:nvSpPr>
          <p:cNvPr id="3" name="KPI strip"/>
          <p:cNvSpPr/>
          <p:nvPr/>
        </p:nvSpPr>
        <p:spPr>
          <a:xfrm>
            <a:off x="347040" y="1170000"/>
            <a:ext cx="11493716" cy="639724"/>
          </a:xfrm>
          <a:prstGeom prst="rect">
            <a:avLst/>
          </a:prstGeom>
          <a:solidFill>
            <a:srgbClr val="F9F8FA"/>
          </a:solidFill>
          <a:ln w="126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20923" y="1289164"/>
            <a:ext cx="356" cy="402476"/>
          </a:xfrm>
          <a:prstGeom prst="line">
            <a:avLst/>
          </a:prstGeom>
          <a:noFill/>
          <a:ln w="756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4438" y="1289164"/>
            <a:ext cx="356" cy="402476"/>
          </a:xfrm>
          <a:prstGeom prst="line">
            <a:avLst/>
          </a:prstGeom>
          <a:noFill/>
          <a:ln w="756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7965" y="1289164"/>
            <a:ext cx="356" cy="402476"/>
          </a:xfrm>
          <a:prstGeom prst="line">
            <a:avLst/>
          </a:prstGeom>
          <a:noFill/>
          <a:ln w="756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396" y="2249284"/>
            <a:ext cx="4599369" cy="356"/>
          </a:xfrm>
          <a:prstGeom prst="line">
            <a:avLst/>
          </a:prstGeom>
          <a:noFill/>
          <a:ln w="10084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85156" y="2249284"/>
            <a:ext cx="6556324" cy="356"/>
          </a:xfrm>
          <a:prstGeom prst="line">
            <a:avLst/>
          </a:prstGeom>
          <a:noFill/>
          <a:ln w="10084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11280" y="1956600"/>
            <a:ext cx="356" cy="4096436"/>
          </a:xfrm>
          <a:prstGeom prst="line">
            <a:avLst/>
          </a:prstGeom>
          <a:noFill/>
          <a:ln w="10084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85156" y="5019840"/>
            <a:ext cx="6556324" cy="356"/>
          </a:xfrm>
          <a:prstGeom prst="line">
            <a:avLst/>
          </a:prstGeom>
          <a:noFill/>
          <a:ln w="10084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21484" y="5092916"/>
            <a:ext cx="356" cy="951128"/>
          </a:xfrm>
          <a:prstGeom prst="line">
            <a:avLst/>
          </a:prstGeom>
          <a:noFill/>
          <a:ln w="7560">
            <a:solidFill>
              <a:srgbClr val="E5E7EB"/>
            </a:solidFill>
            <a:prstDash val="solid"/>
          </a:ln>
        </p:spPr>
      </p:sp>
      <p:sp>
        <p:nvSpPr>
          <p:cNvPr id="12" name="Footer strip"/>
          <p:cNvSpPr/>
          <p:nvPr/>
        </p:nvSpPr>
        <p:spPr>
          <a:xfrm>
            <a:off x="347040" y="6162840"/>
            <a:ext cx="11493716" cy="246596"/>
          </a:xfrm>
          <a:prstGeom prst="rect">
            <a:avLst/>
          </a:prstGeom>
          <a:solidFill>
            <a:srgbClr val="FDFCFB"/>
          </a:solidFill>
          <a:ln w="126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218" y="151299"/>
            <a:ext cx="101561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31" dirty="0"/>
          </a:p>
        </p:txBody>
      </p:sp>
      <p:sp>
        <p:nvSpPr>
          <p:cNvPr id="14" name="Text 12"/>
          <p:cNvSpPr txBox="1"/>
          <p:nvPr/>
        </p:nvSpPr>
        <p:spPr>
          <a:xfrm>
            <a:off x="439307" y="151299"/>
            <a:ext cx="54620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31" dirty="0"/>
          </a:p>
        </p:txBody>
      </p:sp>
      <p:sp>
        <p:nvSpPr>
          <p:cNvPr id="15" name="Text 13"/>
          <p:cNvSpPr txBox="1"/>
          <p:nvPr/>
        </p:nvSpPr>
        <p:spPr>
          <a:xfrm>
            <a:off x="485299" y="151299"/>
            <a:ext cx="107363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831" dirty="0"/>
          </a:p>
        </p:txBody>
      </p:sp>
      <p:sp>
        <p:nvSpPr>
          <p:cNvPr id="16" name="Text 14"/>
          <p:cNvSpPr txBox="1"/>
          <p:nvPr/>
        </p:nvSpPr>
        <p:spPr>
          <a:xfrm>
            <a:off x="629183" y="151299"/>
            <a:ext cx="89747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831" dirty="0"/>
          </a:p>
        </p:txBody>
      </p:sp>
      <p:sp>
        <p:nvSpPr>
          <p:cNvPr id="17" name="Text 15"/>
          <p:cNvSpPr txBox="1"/>
          <p:nvPr/>
        </p:nvSpPr>
        <p:spPr>
          <a:xfrm>
            <a:off x="709774" y="151299"/>
            <a:ext cx="54620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31" dirty="0"/>
          </a:p>
        </p:txBody>
      </p:sp>
      <p:sp>
        <p:nvSpPr>
          <p:cNvPr id="18" name="Text 16"/>
          <p:cNvSpPr txBox="1"/>
          <p:nvPr/>
        </p:nvSpPr>
        <p:spPr>
          <a:xfrm>
            <a:off x="755766" y="151299"/>
            <a:ext cx="101561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31" dirty="0"/>
          </a:p>
        </p:txBody>
      </p:sp>
      <p:sp>
        <p:nvSpPr>
          <p:cNvPr id="19" name="Text 17"/>
          <p:cNvSpPr txBox="1"/>
          <p:nvPr/>
        </p:nvSpPr>
        <p:spPr>
          <a:xfrm>
            <a:off x="847856" y="151299"/>
            <a:ext cx="89747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831" dirty="0"/>
          </a:p>
        </p:txBody>
      </p:sp>
      <p:sp>
        <p:nvSpPr>
          <p:cNvPr id="20" name="Text 18"/>
          <p:cNvSpPr txBox="1"/>
          <p:nvPr/>
        </p:nvSpPr>
        <p:spPr>
          <a:xfrm>
            <a:off x="926970" y="151299"/>
            <a:ext cx="107363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831" dirty="0"/>
          </a:p>
        </p:txBody>
      </p:sp>
      <p:sp>
        <p:nvSpPr>
          <p:cNvPr id="21" name="Text 19"/>
          <p:cNvSpPr txBox="1"/>
          <p:nvPr/>
        </p:nvSpPr>
        <p:spPr>
          <a:xfrm>
            <a:off x="1116529" y="151299"/>
            <a:ext cx="54620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831" dirty="0"/>
          </a:p>
        </p:txBody>
      </p:sp>
      <p:sp>
        <p:nvSpPr>
          <p:cNvPr id="22" name="Text 20"/>
          <p:cNvSpPr txBox="1"/>
          <p:nvPr/>
        </p:nvSpPr>
        <p:spPr>
          <a:xfrm>
            <a:off x="1249969" y="151299"/>
            <a:ext cx="101561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31" dirty="0"/>
          </a:p>
        </p:txBody>
      </p:sp>
      <p:sp>
        <p:nvSpPr>
          <p:cNvPr id="23" name="Text 21"/>
          <p:cNvSpPr txBox="1"/>
          <p:nvPr/>
        </p:nvSpPr>
        <p:spPr>
          <a:xfrm>
            <a:off x="1342480" y="151299"/>
            <a:ext cx="95654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831" dirty="0"/>
          </a:p>
        </p:txBody>
      </p:sp>
      <p:sp>
        <p:nvSpPr>
          <p:cNvPr id="24" name="Text 22"/>
          <p:cNvSpPr txBox="1"/>
          <p:nvPr/>
        </p:nvSpPr>
        <p:spPr>
          <a:xfrm>
            <a:off x="1429190" y="151299"/>
            <a:ext cx="95654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831" dirty="0"/>
          </a:p>
        </p:txBody>
      </p:sp>
      <p:sp>
        <p:nvSpPr>
          <p:cNvPr id="25" name="Text 23"/>
          <p:cNvSpPr txBox="1"/>
          <p:nvPr/>
        </p:nvSpPr>
        <p:spPr>
          <a:xfrm>
            <a:off x="1515583" y="151299"/>
            <a:ext cx="95654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831" dirty="0"/>
          </a:p>
        </p:txBody>
      </p:sp>
      <p:sp>
        <p:nvSpPr>
          <p:cNvPr id="26" name="Text 24"/>
          <p:cNvSpPr txBox="1"/>
          <p:nvPr/>
        </p:nvSpPr>
        <p:spPr>
          <a:xfrm>
            <a:off x="1602293" y="151299"/>
            <a:ext cx="89747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831" dirty="0"/>
          </a:p>
        </p:txBody>
      </p:sp>
      <p:sp>
        <p:nvSpPr>
          <p:cNvPr id="27" name="Text 25"/>
          <p:cNvSpPr txBox="1"/>
          <p:nvPr/>
        </p:nvSpPr>
        <p:spPr>
          <a:xfrm>
            <a:off x="1728877" y="151299"/>
            <a:ext cx="95654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831" dirty="0"/>
          </a:p>
        </p:txBody>
      </p:sp>
      <p:sp>
        <p:nvSpPr>
          <p:cNvPr id="28" name="Text 26"/>
          <p:cNvSpPr txBox="1"/>
          <p:nvPr/>
        </p:nvSpPr>
        <p:spPr>
          <a:xfrm>
            <a:off x="1815586" y="151299"/>
            <a:ext cx="101561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31" dirty="0"/>
          </a:p>
        </p:txBody>
      </p:sp>
      <p:sp>
        <p:nvSpPr>
          <p:cNvPr id="29" name="Text 27"/>
          <p:cNvSpPr txBox="1"/>
          <p:nvPr/>
        </p:nvSpPr>
        <p:spPr>
          <a:xfrm>
            <a:off x="1908098" y="151299"/>
            <a:ext cx="107363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831" dirty="0"/>
          </a:p>
        </p:txBody>
      </p:sp>
      <p:sp>
        <p:nvSpPr>
          <p:cNvPr id="30" name="Text 28"/>
          <p:cNvSpPr txBox="1"/>
          <p:nvPr/>
        </p:nvSpPr>
        <p:spPr>
          <a:xfrm>
            <a:off x="2006305" y="151299"/>
            <a:ext cx="89747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831" dirty="0"/>
          </a:p>
        </p:txBody>
      </p:sp>
      <p:sp>
        <p:nvSpPr>
          <p:cNvPr id="31" name="Text 29"/>
          <p:cNvSpPr txBox="1"/>
          <p:nvPr/>
        </p:nvSpPr>
        <p:spPr>
          <a:xfrm>
            <a:off x="2086897" y="151299"/>
            <a:ext cx="54620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31" dirty="0"/>
          </a:p>
        </p:txBody>
      </p:sp>
      <p:sp>
        <p:nvSpPr>
          <p:cNvPr id="32" name="Text 30"/>
          <p:cNvSpPr txBox="1"/>
          <p:nvPr/>
        </p:nvSpPr>
        <p:spPr>
          <a:xfrm>
            <a:off x="2132572" y="151299"/>
            <a:ext cx="89747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831" dirty="0"/>
          </a:p>
        </p:txBody>
      </p:sp>
      <p:sp>
        <p:nvSpPr>
          <p:cNvPr id="33" name="Text 31"/>
          <p:cNvSpPr txBox="1"/>
          <p:nvPr/>
        </p:nvSpPr>
        <p:spPr>
          <a:xfrm>
            <a:off x="2213480" y="151299"/>
            <a:ext cx="95654" cy="149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831" b="1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831" dirty="0"/>
          </a:p>
        </p:txBody>
      </p:sp>
      <p:sp>
        <p:nvSpPr>
          <p:cNvPr id="34" name="Text 32"/>
          <p:cNvSpPr txBox="1"/>
          <p:nvPr/>
        </p:nvSpPr>
        <p:spPr>
          <a:xfrm>
            <a:off x="347574" y="336925"/>
            <a:ext cx="2413000" cy="468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599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 Works</a:t>
            </a:r>
            <a:endParaRPr lang="en-US" sz="2599" dirty="0"/>
          </a:p>
        </p:txBody>
      </p:sp>
      <p:sp>
        <p:nvSpPr>
          <p:cNvPr id="35" name="Text 33"/>
          <p:cNvSpPr txBox="1"/>
          <p:nvPr/>
        </p:nvSpPr>
        <p:spPr>
          <a:xfrm>
            <a:off x="3109138" y="391223"/>
            <a:ext cx="8661400" cy="383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129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Integrated, mission-critical hydroelectric platform</a:t>
            </a:r>
            <a:endParaRPr lang="en-US" sz="2129" dirty="0"/>
          </a:p>
        </p:txBody>
      </p:sp>
      <p:sp>
        <p:nvSpPr>
          <p:cNvPr id="36" name="Text 34"/>
          <p:cNvSpPr txBox="1"/>
          <p:nvPr/>
        </p:nvSpPr>
        <p:spPr>
          <a:xfrm>
            <a:off x="347218" y="841818"/>
            <a:ext cx="11430000" cy="203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131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Nechako Reservoir, Kemano generation and transmission supporting Rio’s Kitimat aluminium smelter</a:t>
            </a:r>
            <a:endParaRPr lang="en-US" sz="1131" dirty="0"/>
          </a:p>
        </p:txBody>
      </p:sp>
      <p:sp>
        <p:nvSpPr>
          <p:cNvPr id="37" name="Text 35"/>
          <p:cNvSpPr txBox="1"/>
          <p:nvPr/>
        </p:nvSpPr>
        <p:spPr>
          <a:xfrm>
            <a:off x="10465372" y="156340"/>
            <a:ext cx="1384300" cy="13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771" spc="50" kern="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PUBLIC-SOURCE PROFILE</a:t>
            </a:r>
            <a:endParaRPr lang="en-US" sz="771" dirty="0"/>
          </a:p>
        </p:txBody>
      </p:sp>
      <p:sp>
        <p:nvSpPr>
          <p:cNvPr id="38" name="Text 36"/>
          <p:cNvSpPr txBox="1"/>
          <p:nvPr/>
        </p:nvSpPr>
        <p:spPr>
          <a:xfrm>
            <a:off x="494094" y="1218177"/>
            <a:ext cx="2641600" cy="418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319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896 MW</a:t>
            </a:r>
            <a:endParaRPr lang="en-US" sz="2319" dirty="0"/>
          </a:p>
        </p:txBody>
      </p:sp>
      <p:sp>
        <p:nvSpPr>
          <p:cNvPr id="39" name="Text 37"/>
          <p:cNvSpPr txBox="1"/>
          <p:nvPr/>
        </p:nvSpPr>
        <p:spPr>
          <a:xfrm>
            <a:off x="494094" y="1560720"/>
            <a:ext cx="2641600" cy="169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94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capacity</a:t>
            </a:r>
            <a:endParaRPr lang="en-US" sz="941" dirty="0"/>
          </a:p>
        </p:txBody>
      </p:sp>
      <p:sp>
        <p:nvSpPr>
          <p:cNvPr id="40" name="Text 38"/>
          <p:cNvSpPr txBox="1"/>
          <p:nvPr/>
        </p:nvSpPr>
        <p:spPr>
          <a:xfrm>
            <a:off x="3367621" y="1218177"/>
            <a:ext cx="2641600" cy="418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319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319" dirty="0"/>
          </a:p>
        </p:txBody>
      </p:sp>
      <p:sp>
        <p:nvSpPr>
          <p:cNvPr id="41" name="Text 39"/>
          <p:cNvSpPr txBox="1"/>
          <p:nvPr/>
        </p:nvSpPr>
        <p:spPr>
          <a:xfrm>
            <a:off x="3367621" y="1560720"/>
            <a:ext cx="2641600" cy="169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94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units</a:t>
            </a:r>
            <a:endParaRPr lang="en-US" sz="941" dirty="0"/>
          </a:p>
        </p:txBody>
      </p:sp>
      <p:sp>
        <p:nvSpPr>
          <p:cNvPr id="42" name="Text 40"/>
          <p:cNvSpPr txBox="1"/>
          <p:nvPr/>
        </p:nvSpPr>
        <p:spPr>
          <a:xfrm>
            <a:off x="6241136" y="1218177"/>
            <a:ext cx="2641600" cy="418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319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 km</a:t>
            </a:r>
            <a:endParaRPr lang="en-US" sz="2319" dirty="0"/>
          </a:p>
        </p:txBody>
      </p:sp>
      <p:sp>
        <p:nvSpPr>
          <p:cNvPr id="43" name="Text 41"/>
          <p:cNvSpPr txBox="1"/>
          <p:nvPr/>
        </p:nvSpPr>
        <p:spPr>
          <a:xfrm>
            <a:off x="6241136" y="1560720"/>
            <a:ext cx="2641600" cy="169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94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Kemano–Kitimat transmission</a:t>
            </a:r>
            <a:endParaRPr lang="en-US" sz="941" dirty="0"/>
          </a:p>
        </p:txBody>
      </p:sp>
      <p:sp>
        <p:nvSpPr>
          <p:cNvPr id="44" name="Text 42"/>
          <p:cNvSpPr txBox="1"/>
          <p:nvPr/>
        </p:nvSpPr>
        <p:spPr>
          <a:xfrm>
            <a:off x="9114295" y="1218177"/>
            <a:ext cx="2641600" cy="418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2319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TWh</a:t>
            </a:r>
            <a:endParaRPr lang="en-US" sz="2319" dirty="0"/>
          </a:p>
        </p:txBody>
      </p:sp>
      <p:sp>
        <p:nvSpPr>
          <p:cNvPr id="45" name="Text 43"/>
          <p:cNvSpPr txBox="1"/>
          <p:nvPr/>
        </p:nvSpPr>
        <p:spPr>
          <a:xfrm>
            <a:off x="9114295" y="1560720"/>
            <a:ext cx="2641600" cy="169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94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Kemano generation</a:t>
            </a:r>
            <a:endParaRPr lang="en-US" sz="941" dirty="0"/>
          </a:p>
        </p:txBody>
      </p:sp>
      <p:sp>
        <p:nvSpPr>
          <p:cNvPr id="46" name="Text 44"/>
          <p:cNvSpPr txBox="1"/>
          <p:nvPr/>
        </p:nvSpPr>
        <p:spPr>
          <a:xfrm>
            <a:off x="347218" y="1962544"/>
            <a:ext cx="4597400" cy="24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69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 Works hydro system</a:t>
            </a:r>
            <a:endParaRPr lang="en-US" sz="1369" dirty="0"/>
          </a:p>
        </p:txBody>
      </p:sp>
      <p:sp>
        <p:nvSpPr>
          <p:cNvPr id="47" name="Text 45"/>
          <p:cNvSpPr txBox="1"/>
          <p:nvPr/>
        </p:nvSpPr>
        <p:spPr>
          <a:xfrm>
            <a:off x="5284978" y="1962544"/>
            <a:ext cx="6553200" cy="24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69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 system assets</a:t>
            </a:r>
            <a:endParaRPr lang="en-US" sz="1369" dirty="0"/>
          </a:p>
        </p:txBody>
      </p:sp>
      <p:sp>
        <p:nvSpPr>
          <p:cNvPr id="92" name="Text 90"/>
          <p:cNvSpPr txBox="1"/>
          <p:nvPr/>
        </p:nvSpPr>
        <p:spPr>
          <a:xfrm>
            <a:off x="5294338" y="4545460"/>
            <a:ext cx="6540500" cy="139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771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adds redundant water conveyance and maintenance flexibility, not generating capacity.</a:t>
            </a:r>
            <a:endParaRPr lang="en-US" sz="771" dirty="0"/>
          </a:p>
        </p:txBody>
      </p:sp>
      <p:sp>
        <p:nvSpPr>
          <p:cNvPr id="93" name="Text 91"/>
          <p:cNvSpPr txBox="1"/>
          <p:nvPr/>
        </p:nvSpPr>
        <p:spPr>
          <a:xfrm>
            <a:off x="5284978" y="4733100"/>
            <a:ext cx="6553200" cy="246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369" b="1" dirty="0">
                <a:solidFill>
                  <a:srgbClr val="44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profile &amp; operating characteristics</a:t>
            </a:r>
            <a:endParaRPr lang="en-US" sz="1369" dirty="0"/>
          </a:p>
        </p:txBody>
      </p:sp>
      <p:sp>
        <p:nvSpPr>
          <p:cNvPr id="94" name="Text 92"/>
          <p:cNvSpPr txBox="1"/>
          <p:nvPr/>
        </p:nvSpPr>
        <p:spPr>
          <a:xfrm>
            <a:off x="5303342" y="5108161"/>
            <a:ext cx="2794000" cy="169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941" b="1" spc="60" kern="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PROFILE</a:t>
            </a:r>
            <a:endParaRPr lang="en-US" sz="941" dirty="0"/>
          </a:p>
        </p:txBody>
      </p:sp>
      <p:sp>
        <p:nvSpPr>
          <p:cNvPr id="95" name="Text 93"/>
          <p:cNvSpPr txBox="1"/>
          <p:nvPr/>
        </p:nvSpPr>
        <p:spPr>
          <a:xfrm>
            <a:off x="8604542" y="5111390"/>
            <a:ext cx="3225800" cy="1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901" b="1" spc="20" kern="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CAPTIVE DEMAND</a:t>
            </a:r>
            <a:endParaRPr lang="en-US" sz="901" dirty="0"/>
          </a:p>
        </p:txBody>
      </p:sp>
      <p:sp>
        <p:nvSpPr>
          <p:cNvPr id="96" name="Text 94"/>
          <p:cNvSpPr txBox="1"/>
          <p:nvPr/>
        </p:nvSpPr>
        <p:spPr>
          <a:xfrm>
            <a:off x="5303698" y="5349004"/>
            <a:ext cx="76200" cy="192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69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69" dirty="0"/>
          </a:p>
        </p:txBody>
      </p:sp>
      <p:sp>
        <p:nvSpPr>
          <p:cNvPr id="97" name="Text 95"/>
          <p:cNvSpPr txBox="1"/>
          <p:nvPr/>
        </p:nvSpPr>
        <p:spPr>
          <a:xfrm>
            <a:off x="5458854" y="5348661"/>
            <a:ext cx="2908300" cy="181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09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Reservoir-fed, high-head hydroelectric system</a:t>
            </a:r>
            <a:endParaRPr lang="en-US" sz="1009" dirty="0"/>
          </a:p>
        </p:txBody>
      </p:sp>
      <p:sp>
        <p:nvSpPr>
          <p:cNvPr id="98" name="Text 96"/>
          <p:cNvSpPr txBox="1"/>
          <p:nvPr/>
        </p:nvSpPr>
        <p:spPr>
          <a:xfrm>
            <a:off x="8604542" y="5349004"/>
            <a:ext cx="76200" cy="192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69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69" dirty="0"/>
          </a:p>
        </p:txBody>
      </p:sp>
      <p:sp>
        <p:nvSpPr>
          <p:cNvPr id="99" name="Text 97"/>
          <p:cNvSpPr txBox="1"/>
          <p:nvPr/>
        </p:nvSpPr>
        <p:spPr>
          <a:xfrm>
            <a:off x="8760054" y="5348661"/>
            <a:ext cx="3035300" cy="181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09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power source for Kitimat smelter</a:t>
            </a:r>
            <a:endParaRPr lang="en-US" sz="1009" dirty="0"/>
          </a:p>
        </p:txBody>
      </p:sp>
      <p:sp>
        <p:nvSpPr>
          <p:cNvPr id="100" name="Text 98"/>
          <p:cNvSpPr txBox="1"/>
          <p:nvPr/>
        </p:nvSpPr>
        <p:spPr>
          <a:xfrm>
            <a:off x="5303698" y="5586596"/>
            <a:ext cx="76200" cy="192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69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69" dirty="0"/>
          </a:p>
        </p:txBody>
      </p:sp>
      <p:sp>
        <p:nvSpPr>
          <p:cNvPr id="101" name="Text 99"/>
          <p:cNvSpPr txBox="1"/>
          <p:nvPr/>
        </p:nvSpPr>
        <p:spPr>
          <a:xfrm>
            <a:off x="5458854" y="5586253"/>
            <a:ext cx="2908300" cy="181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09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tunnels provide conveyance redundancy</a:t>
            </a:r>
            <a:endParaRPr lang="en-US" sz="1009" dirty="0"/>
          </a:p>
        </p:txBody>
      </p:sp>
      <p:sp>
        <p:nvSpPr>
          <p:cNvPr id="102" name="Text 100"/>
          <p:cNvSpPr txBox="1"/>
          <p:nvPr/>
        </p:nvSpPr>
        <p:spPr>
          <a:xfrm>
            <a:off x="8604542" y="5586596"/>
            <a:ext cx="76200" cy="192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69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69" dirty="0"/>
          </a:p>
        </p:txBody>
      </p:sp>
      <p:sp>
        <p:nvSpPr>
          <p:cNvPr id="103" name="Text 101"/>
          <p:cNvSpPr txBox="1"/>
          <p:nvPr/>
        </p:nvSpPr>
        <p:spPr>
          <a:xfrm>
            <a:off x="8760054" y="5586253"/>
            <a:ext cx="3035300" cy="181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09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~406 kt of aluminium produced in 2025</a:t>
            </a:r>
            <a:endParaRPr lang="en-US" sz="1009" dirty="0"/>
          </a:p>
        </p:txBody>
      </p:sp>
      <p:sp>
        <p:nvSpPr>
          <p:cNvPr id="104" name="Text 102"/>
          <p:cNvSpPr txBox="1"/>
          <p:nvPr/>
        </p:nvSpPr>
        <p:spPr>
          <a:xfrm>
            <a:off x="5303698" y="5824556"/>
            <a:ext cx="76200" cy="192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69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69" dirty="0"/>
          </a:p>
        </p:txBody>
      </p:sp>
      <p:sp>
        <p:nvSpPr>
          <p:cNvPr id="105" name="Text 103"/>
          <p:cNvSpPr txBox="1"/>
          <p:nvPr/>
        </p:nvSpPr>
        <p:spPr>
          <a:xfrm>
            <a:off x="5458854" y="5824213"/>
            <a:ext cx="2908300" cy="181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09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Hydrology governs output and surplus exports</a:t>
            </a:r>
            <a:endParaRPr lang="en-US" sz="1009" dirty="0"/>
          </a:p>
        </p:txBody>
      </p:sp>
      <p:sp>
        <p:nvSpPr>
          <p:cNvPr id="106" name="Text 104"/>
          <p:cNvSpPr txBox="1"/>
          <p:nvPr/>
        </p:nvSpPr>
        <p:spPr>
          <a:xfrm>
            <a:off x="8604542" y="5824556"/>
            <a:ext cx="76200" cy="192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1069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69" dirty="0"/>
          </a:p>
        </p:txBody>
      </p:sp>
      <p:sp>
        <p:nvSpPr>
          <p:cNvPr id="107" name="Text 105"/>
          <p:cNvSpPr txBox="1"/>
          <p:nvPr/>
        </p:nvSpPr>
        <p:spPr>
          <a:xfrm>
            <a:off x="8760054" y="5824213"/>
            <a:ext cx="3035300" cy="181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09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Surplus generation sold to BC Hydro</a:t>
            </a:r>
            <a:endParaRPr lang="en-US" sz="1009" dirty="0"/>
          </a:p>
        </p:txBody>
      </p:sp>
      <p:sp>
        <p:nvSpPr>
          <p:cNvPr id="108" name="Text 106"/>
          <p:cNvSpPr txBox="1"/>
          <p:nvPr/>
        </p:nvSpPr>
        <p:spPr>
          <a:xfrm>
            <a:off x="466382" y="6219100"/>
            <a:ext cx="1866900" cy="1477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819" b="1" spc="30" kern="0" dirty="0">
                <a:solidFill>
                  <a:srgbClr val="76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KEMANO T2</a:t>
            </a:r>
            <a:endParaRPr lang="en-US" sz="819" dirty="0"/>
          </a:p>
        </p:txBody>
      </p:sp>
      <p:sp>
        <p:nvSpPr>
          <p:cNvPr id="109" name="Text 107"/>
          <p:cNvSpPr txBox="1"/>
          <p:nvPr/>
        </p:nvSpPr>
        <p:spPr>
          <a:xfrm>
            <a:off x="2431974" y="6212633"/>
            <a:ext cx="9359900" cy="1640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Commissioned 2022 | C$600mm announced investment | Tunnel redundancy and maintenance flexibility</a:t>
            </a:r>
            <a:endParaRPr lang="en-US" sz="910" dirty="0"/>
          </a:p>
        </p:txBody>
      </p:sp>
      <p:sp>
        <p:nvSpPr>
          <p:cNvPr id="110" name="Text 108"/>
          <p:cNvSpPr txBox="1"/>
          <p:nvPr/>
        </p:nvSpPr>
        <p:spPr>
          <a:xfrm>
            <a:off x="11175657" y="6725553"/>
            <a:ext cx="673100" cy="1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buNone/>
            </a:pPr>
            <a:r>
              <a:rPr lang="en-US" sz="669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SEP 2026  |  3</a:t>
            </a:r>
            <a:endParaRPr lang="en-US" sz="669" dirty="0"/>
          </a:p>
        </p:txBody>
      </p:sp>
      <p:grpSp>
        <p:nvGrpSpPr>
          <p:cNvPr id="48" name="Hydro system assets — editable table"/>
          <p:cNvGrpSpPr/>
          <p:nvPr/>
        </p:nvGrpSpPr>
        <p:grpSpPr>
          <a:xfrm>
            <a:off x="5285140" y="2359060"/>
            <a:ext cx="6555973" cy="2125431"/>
            <a:chOff x="5285140" y="2359060"/>
            <a:chExt cx="6555973" cy="2125431"/>
          </a:xfrm>
        </p:grpSpPr>
        <p:sp>
          <p:nvSpPr>
            <p:cNvPr id="111" name="Header"/>
            <p:cNvSpPr/>
            <p:nvPr/>
          </p:nvSpPr>
          <p:spPr>
            <a:xfrm>
              <a:off x="5285140" y="2359060"/>
              <a:ext cx="6555973" cy="283281"/>
            </a:xfrm>
            <a:prstGeom prst="rect">
              <a:avLst/>
            </a:prstGeom>
            <a:solidFill>
              <a:srgbClr val="44214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Table heading Asset"/>
            <p:cNvSpPr txBox="1"/>
            <p:nvPr/>
          </p:nvSpPr>
          <p:spPr>
            <a:xfrm>
              <a:off x="5623011" y="2409352"/>
              <a:ext cx="2011680" cy="1847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91" b="1" i="0">
                  <a:solidFill>
                    <a:srgbClr val="FFFFFF"/>
                  </a:solidFill>
                  <a:latin typeface="Arial"/>
                </a:rPr>
                <a:t>Asset</a:t>
              </a:r>
            </a:p>
          </p:txBody>
        </p:sp>
        <p:sp>
          <p:nvSpPr>
            <p:cNvPr id="113" name="Table heading Scale"/>
            <p:cNvSpPr txBox="1"/>
            <p:nvPr/>
          </p:nvSpPr>
          <p:spPr>
            <a:xfrm>
              <a:off x="7772582" y="2409352"/>
              <a:ext cx="1307592" cy="1847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91" b="1" i="0">
                  <a:solidFill>
                    <a:srgbClr val="FFFFFF"/>
                  </a:solidFill>
                  <a:latin typeface="Arial"/>
                </a:rPr>
                <a:t>Scale</a:t>
              </a:r>
            </a:p>
          </p:txBody>
        </p:sp>
        <p:sp>
          <p:nvSpPr>
            <p:cNvPr id="114" name="Table heading Role / key characteristic"/>
            <p:cNvSpPr txBox="1"/>
            <p:nvPr/>
          </p:nvSpPr>
          <p:spPr>
            <a:xfrm>
              <a:off x="9233062" y="2409352"/>
              <a:ext cx="2532888" cy="1847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91" b="1" i="0">
                  <a:solidFill>
                    <a:srgbClr val="FFFFFF"/>
                  </a:solidFill>
                  <a:latin typeface="Arial"/>
                </a:rPr>
                <a:t>Role / key characteristic</a:t>
              </a:r>
            </a:p>
          </p:txBody>
        </p:sp>
        <p:sp>
          <p:nvSpPr>
            <p:cNvPr id="115" name="Row 1 background"/>
            <p:cNvSpPr/>
            <p:nvPr/>
          </p:nvSpPr>
          <p:spPr>
            <a:xfrm>
              <a:off x="5285140" y="2642341"/>
              <a:ext cx="6555973" cy="307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Table asset ID 1"/>
            <p:cNvSpPr/>
            <p:nvPr/>
          </p:nvSpPr>
          <p:spPr>
            <a:xfrm>
              <a:off x="5341010" y="2714564"/>
              <a:ext cx="162580" cy="162580"/>
            </a:xfrm>
            <a:prstGeom prst="ellipse">
              <a:avLst/>
            </a:prstGeom>
            <a:solidFill>
              <a:srgbClr val="442142"/>
            </a:solidFill>
            <a:ln w="762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>
                  <a:solidFill>
                    <a:srgbClr val="FFFFFF"/>
                  </a:solidFill>
                  <a:latin typeface="Arial"/>
                </a:rPr>
                <a:t>1</a:t>
              </a:r>
            </a:p>
          </p:txBody>
        </p:sp>
        <p:sp>
          <p:nvSpPr>
            <p:cNvPr id="117" name="Asset 1 name"/>
            <p:cNvSpPr txBox="1"/>
            <p:nvPr/>
          </p:nvSpPr>
          <p:spPr>
            <a:xfrm>
              <a:off x="5623011" y="2700756"/>
              <a:ext cx="2051090" cy="190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69" b="1" i="0">
                  <a:solidFill>
                    <a:srgbClr val="3F3F46"/>
                  </a:solidFill>
                  <a:latin typeface="Arial"/>
                </a:rPr>
                <a:t>Nechako Reservoir</a:t>
              </a:r>
            </a:p>
          </p:txBody>
        </p:sp>
        <p:sp>
          <p:nvSpPr>
            <p:cNvPr id="118" name="Asset 1 scale"/>
            <p:cNvSpPr txBox="1"/>
            <p:nvPr/>
          </p:nvSpPr>
          <p:spPr>
            <a:xfrm>
              <a:off x="7772582" y="2700756"/>
              <a:ext cx="1346179" cy="190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69" b="0" i="0">
                  <a:solidFill>
                    <a:srgbClr val="3F3F46"/>
                  </a:solidFill>
                  <a:latin typeface="Arial"/>
                </a:rPr>
                <a:t>910 km²</a:t>
              </a:r>
            </a:p>
          </p:txBody>
        </p:sp>
        <p:sp>
          <p:nvSpPr>
            <p:cNvPr id="119" name="Asset 1 role"/>
            <p:cNvSpPr txBox="1"/>
            <p:nvPr/>
          </p:nvSpPr>
          <p:spPr>
            <a:xfrm>
              <a:off x="9233062" y="2700756"/>
              <a:ext cx="2527310" cy="190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9" b="0" i="0">
                  <a:solidFill>
                    <a:srgbClr val="3F3F46"/>
                  </a:solidFill>
                  <a:latin typeface="Arial"/>
                </a:rPr>
                <a:t>Regulated storage for Kemano</a:t>
              </a:r>
            </a:p>
          </p:txBody>
        </p:sp>
        <p:sp>
          <p:nvSpPr>
            <p:cNvPr id="120" name="Row 2 background"/>
            <p:cNvSpPr/>
            <p:nvPr/>
          </p:nvSpPr>
          <p:spPr>
            <a:xfrm>
              <a:off x="5285140" y="2949366"/>
              <a:ext cx="6555973" cy="307025"/>
            </a:xfrm>
            <a:prstGeom prst="rect">
              <a:avLst/>
            </a:prstGeom>
            <a:solidFill>
              <a:srgbClr val="F8F7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Table asset ID 2"/>
            <p:cNvSpPr/>
            <p:nvPr/>
          </p:nvSpPr>
          <p:spPr>
            <a:xfrm>
              <a:off x="5341010" y="3021589"/>
              <a:ext cx="162580" cy="162580"/>
            </a:xfrm>
            <a:prstGeom prst="ellipse">
              <a:avLst/>
            </a:prstGeom>
            <a:solidFill>
              <a:srgbClr val="442142"/>
            </a:solidFill>
            <a:ln w="762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>
                  <a:solidFill>
                    <a:srgbClr val="FFFFFF"/>
                  </a:solidFill>
                  <a:latin typeface="Arial"/>
                </a:rPr>
                <a:t>2</a:t>
              </a:r>
            </a:p>
          </p:txBody>
        </p:sp>
        <p:sp>
          <p:nvSpPr>
            <p:cNvPr id="122" name="Asset 2 name"/>
            <p:cNvSpPr txBox="1"/>
            <p:nvPr/>
          </p:nvSpPr>
          <p:spPr>
            <a:xfrm>
              <a:off x="5623011" y="3007781"/>
              <a:ext cx="2051090" cy="190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69" b="1" i="0">
                  <a:solidFill>
                    <a:srgbClr val="3F3F46"/>
                  </a:solidFill>
                  <a:latin typeface="Arial"/>
                </a:rPr>
                <a:t>Kenney Dam</a:t>
              </a:r>
            </a:p>
          </p:txBody>
        </p:sp>
        <p:sp>
          <p:nvSpPr>
            <p:cNvPr id="123" name="Asset 2 scale"/>
            <p:cNvSpPr txBox="1"/>
            <p:nvPr/>
          </p:nvSpPr>
          <p:spPr>
            <a:xfrm>
              <a:off x="7772582" y="3007781"/>
              <a:ext cx="1346179" cy="190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69" b="0" i="0">
                  <a:solidFill>
                    <a:srgbClr val="3F3F46"/>
                  </a:solidFill>
                  <a:latin typeface="Arial"/>
                </a:rPr>
                <a:t>97 m high</a:t>
              </a:r>
            </a:p>
          </p:txBody>
        </p:sp>
        <p:sp>
          <p:nvSpPr>
            <p:cNvPr id="124" name="Asset 2 role"/>
            <p:cNvSpPr txBox="1"/>
            <p:nvPr/>
          </p:nvSpPr>
          <p:spPr>
            <a:xfrm>
              <a:off x="9233062" y="3007781"/>
              <a:ext cx="2527310" cy="190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9" b="0" i="0">
                  <a:solidFill>
                    <a:srgbClr val="3F3F46"/>
                  </a:solidFill>
                  <a:latin typeface="Arial"/>
                </a:rPr>
                <a:t>Impounds Nechako Reservoir</a:t>
              </a:r>
            </a:p>
          </p:txBody>
        </p:sp>
        <p:sp>
          <p:nvSpPr>
            <p:cNvPr id="125" name="Row 3 background"/>
            <p:cNvSpPr/>
            <p:nvPr/>
          </p:nvSpPr>
          <p:spPr>
            <a:xfrm>
              <a:off x="5285140" y="3256391"/>
              <a:ext cx="6555973" cy="307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Table asset ID 3"/>
            <p:cNvSpPr/>
            <p:nvPr/>
          </p:nvSpPr>
          <p:spPr>
            <a:xfrm>
              <a:off x="5341010" y="3328614"/>
              <a:ext cx="162580" cy="162580"/>
            </a:xfrm>
            <a:prstGeom prst="ellipse">
              <a:avLst/>
            </a:prstGeom>
            <a:solidFill>
              <a:srgbClr val="442142"/>
            </a:solidFill>
            <a:ln w="762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>
                  <a:solidFill>
                    <a:srgbClr val="FFFFFF"/>
                  </a:solidFill>
                  <a:latin typeface="Arial"/>
                </a:rPr>
                <a:t>3</a:t>
              </a:r>
            </a:p>
          </p:txBody>
        </p:sp>
        <p:sp>
          <p:nvSpPr>
            <p:cNvPr id="127" name="Asset 3 name"/>
            <p:cNvSpPr txBox="1"/>
            <p:nvPr/>
          </p:nvSpPr>
          <p:spPr>
            <a:xfrm>
              <a:off x="5623011" y="3314806"/>
              <a:ext cx="2051090" cy="190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69" b="1" i="0">
                  <a:solidFill>
                    <a:srgbClr val="3F3F46"/>
                  </a:solidFill>
                  <a:latin typeface="Arial"/>
                </a:rPr>
                <a:t>Skins Lake Spillway</a:t>
              </a:r>
            </a:p>
          </p:txBody>
        </p:sp>
        <p:sp>
          <p:nvSpPr>
            <p:cNvPr id="128" name="Asset 3 scale"/>
            <p:cNvSpPr txBox="1"/>
            <p:nvPr/>
          </p:nvSpPr>
          <p:spPr>
            <a:xfrm>
              <a:off x="7772582" y="3314806"/>
              <a:ext cx="1346179" cy="190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69" b="0" i="0">
                  <a:solidFill>
                    <a:srgbClr val="3F3F46"/>
                  </a:solidFill>
                  <a:latin typeface="Arial"/>
                </a:rPr>
                <a:t>1 spillway</a:t>
              </a:r>
            </a:p>
          </p:txBody>
        </p:sp>
        <p:sp>
          <p:nvSpPr>
            <p:cNvPr id="129" name="Asset 3 role"/>
            <p:cNvSpPr txBox="1"/>
            <p:nvPr/>
          </p:nvSpPr>
          <p:spPr>
            <a:xfrm>
              <a:off x="9233062" y="3314806"/>
              <a:ext cx="2527310" cy="190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9" b="0" i="0">
                  <a:solidFill>
                    <a:srgbClr val="3F3F46"/>
                  </a:solidFill>
                  <a:latin typeface="Arial"/>
                </a:rPr>
                <a:t>Controls downstream releases</a:t>
              </a:r>
            </a:p>
          </p:txBody>
        </p:sp>
        <p:sp>
          <p:nvSpPr>
            <p:cNvPr id="130" name="Row 4 background"/>
            <p:cNvSpPr/>
            <p:nvPr/>
          </p:nvSpPr>
          <p:spPr>
            <a:xfrm>
              <a:off x="5285140" y="3563416"/>
              <a:ext cx="6555973" cy="307025"/>
            </a:xfrm>
            <a:prstGeom prst="rect">
              <a:avLst/>
            </a:prstGeom>
            <a:solidFill>
              <a:srgbClr val="F8F7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Table asset ID 4"/>
            <p:cNvSpPr/>
            <p:nvPr/>
          </p:nvSpPr>
          <p:spPr>
            <a:xfrm>
              <a:off x="5341010" y="3635639"/>
              <a:ext cx="162580" cy="162580"/>
            </a:xfrm>
            <a:prstGeom prst="ellipse">
              <a:avLst/>
            </a:prstGeom>
            <a:solidFill>
              <a:srgbClr val="442142"/>
            </a:solidFill>
            <a:ln w="762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>
                  <a:solidFill>
                    <a:srgbClr val="FFFFFF"/>
                  </a:solidFill>
                  <a:latin typeface="Arial"/>
                </a:rPr>
                <a:t>4</a:t>
              </a:r>
            </a:p>
          </p:txBody>
        </p:sp>
        <p:sp>
          <p:nvSpPr>
            <p:cNvPr id="132" name="Asset 4 name"/>
            <p:cNvSpPr txBox="1"/>
            <p:nvPr/>
          </p:nvSpPr>
          <p:spPr>
            <a:xfrm>
              <a:off x="5623011" y="3621831"/>
              <a:ext cx="2051090" cy="190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69" b="1" i="0">
                  <a:solidFill>
                    <a:srgbClr val="3F3F46"/>
                  </a:solidFill>
                  <a:latin typeface="Arial"/>
                </a:rPr>
                <a:t>Kemano T1 / T2 tunnels</a:t>
              </a:r>
            </a:p>
          </p:txBody>
        </p:sp>
        <p:sp>
          <p:nvSpPr>
            <p:cNvPr id="133" name="Asset 4 scale"/>
            <p:cNvSpPr txBox="1"/>
            <p:nvPr/>
          </p:nvSpPr>
          <p:spPr>
            <a:xfrm>
              <a:off x="7772582" y="3621831"/>
              <a:ext cx="1346179" cy="190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69" b="0" i="0">
                  <a:solidFill>
                    <a:srgbClr val="3F3F46"/>
                  </a:solidFill>
                  <a:latin typeface="Arial"/>
                </a:rPr>
                <a:t>~16 km each</a:t>
              </a:r>
            </a:p>
          </p:txBody>
        </p:sp>
        <p:sp>
          <p:nvSpPr>
            <p:cNvPr id="134" name="Asset 4 role"/>
            <p:cNvSpPr txBox="1"/>
            <p:nvPr/>
          </p:nvSpPr>
          <p:spPr>
            <a:xfrm>
              <a:off x="9233062" y="3621831"/>
              <a:ext cx="2527310" cy="190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9" b="0" i="0">
                  <a:solidFill>
                    <a:srgbClr val="3F3F46"/>
                  </a:solidFill>
                  <a:latin typeface="Arial"/>
                </a:rPr>
                <a:t>Redundant water conveyance</a:t>
              </a:r>
            </a:p>
          </p:txBody>
        </p:sp>
        <p:sp>
          <p:nvSpPr>
            <p:cNvPr id="135" name="Row 5 background"/>
            <p:cNvSpPr/>
            <p:nvPr/>
          </p:nvSpPr>
          <p:spPr>
            <a:xfrm>
              <a:off x="5285140" y="3870441"/>
              <a:ext cx="6555973" cy="307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Table asset ID 5"/>
            <p:cNvSpPr/>
            <p:nvPr/>
          </p:nvSpPr>
          <p:spPr>
            <a:xfrm>
              <a:off x="5341010" y="3942664"/>
              <a:ext cx="162580" cy="162580"/>
            </a:xfrm>
            <a:prstGeom prst="ellipse">
              <a:avLst/>
            </a:prstGeom>
            <a:solidFill>
              <a:srgbClr val="442142"/>
            </a:solidFill>
            <a:ln w="762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>
                  <a:solidFill>
                    <a:srgbClr val="FFFFFF"/>
                  </a:solidFill>
                  <a:latin typeface="Arial"/>
                </a:rPr>
                <a:t>5</a:t>
              </a:r>
            </a:p>
          </p:txBody>
        </p:sp>
        <p:sp>
          <p:nvSpPr>
            <p:cNvPr id="137" name="Asset 5 name"/>
            <p:cNvSpPr txBox="1"/>
            <p:nvPr/>
          </p:nvSpPr>
          <p:spPr>
            <a:xfrm>
              <a:off x="5623011" y="3928856"/>
              <a:ext cx="2051090" cy="190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69" b="1" i="0">
                  <a:solidFill>
                    <a:srgbClr val="3F3F46"/>
                  </a:solidFill>
                  <a:latin typeface="Arial"/>
                </a:rPr>
                <a:t>Kemano Powerhouse</a:t>
              </a:r>
            </a:p>
          </p:txBody>
        </p:sp>
        <p:sp>
          <p:nvSpPr>
            <p:cNvPr id="138" name="Asset 5 scale"/>
            <p:cNvSpPr txBox="1"/>
            <p:nvPr/>
          </p:nvSpPr>
          <p:spPr>
            <a:xfrm>
              <a:off x="7772582" y="3928856"/>
              <a:ext cx="1346179" cy="190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69" b="0" i="0">
                  <a:solidFill>
                    <a:srgbClr val="3F3F46"/>
                  </a:solidFill>
                  <a:latin typeface="Arial"/>
                </a:rPr>
                <a:t>896 MW</a:t>
              </a:r>
            </a:p>
          </p:txBody>
        </p:sp>
        <p:sp>
          <p:nvSpPr>
            <p:cNvPr id="139" name="Asset 5 role"/>
            <p:cNvSpPr txBox="1"/>
            <p:nvPr/>
          </p:nvSpPr>
          <p:spPr>
            <a:xfrm>
              <a:off x="9233062" y="3928856"/>
              <a:ext cx="2527310" cy="190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9" b="0" i="0">
                  <a:solidFill>
                    <a:srgbClr val="3F3F46"/>
                  </a:solidFill>
                  <a:latin typeface="Arial"/>
                </a:rPr>
                <a:t>Underground high-head hydro</a:t>
              </a:r>
            </a:p>
          </p:txBody>
        </p:sp>
        <p:sp>
          <p:nvSpPr>
            <p:cNvPr id="140" name="Row 6 background"/>
            <p:cNvSpPr/>
            <p:nvPr/>
          </p:nvSpPr>
          <p:spPr>
            <a:xfrm>
              <a:off x="5285140" y="4177466"/>
              <a:ext cx="6555973" cy="307025"/>
            </a:xfrm>
            <a:prstGeom prst="rect">
              <a:avLst/>
            </a:prstGeom>
            <a:solidFill>
              <a:srgbClr val="F8F7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Table asset ID 6"/>
            <p:cNvSpPr/>
            <p:nvPr/>
          </p:nvSpPr>
          <p:spPr>
            <a:xfrm>
              <a:off x="5341010" y="4249689"/>
              <a:ext cx="162580" cy="162580"/>
            </a:xfrm>
            <a:prstGeom prst="ellipse">
              <a:avLst/>
            </a:prstGeom>
            <a:solidFill>
              <a:srgbClr val="442142"/>
            </a:solidFill>
            <a:ln w="762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>
                  <a:solidFill>
                    <a:srgbClr val="FFFFFF"/>
                  </a:solidFill>
                  <a:latin typeface="Arial"/>
                </a:rPr>
                <a:t>6</a:t>
              </a:r>
            </a:p>
          </p:txBody>
        </p:sp>
        <p:sp>
          <p:nvSpPr>
            <p:cNvPr id="142" name="Asset 6 name"/>
            <p:cNvSpPr txBox="1"/>
            <p:nvPr/>
          </p:nvSpPr>
          <p:spPr>
            <a:xfrm>
              <a:off x="5623011" y="4235881"/>
              <a:ext cx="2051090" cy="190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69" b="1" i="0">
                  <a:solidFill>
                    <a:srgbClr val="3F3F46"/>
                  </a:solidFill>
                  <a:latin typeface="Arial"/>
                </a:rPr>
                <a:t>Kemano–Kitimat line</a:t>
              </a:r>
            </a:p>
          </p:txBody>
        </p:sp>
        <p:sp>
          <p:nvSpPr>
            <p:cNvPr id="143" name="Asset 6 scale"/>
            <p:cNvSpPr txBox="1"/>
            <p:nvPr/>
          </p:nvSpPr>
          <p:spPr>
            <a:xfrm>
              <a:off x="7772582" y="4235881"/>
              <a:ext cx="1346179" cy="190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69" b="0" i="0">
                  <a:solidFill>
                    <a:srgbClr val="3F3F46"/>
                  </a:solidFill>
                  <a:latin typeface="Arial"/>
                </a:rPr>
                <a:t>~80 km</a:t>
              </a:r>
            </a:p>
          </p:txBody>
        </p:sp>
        <p:sp>
          <p:nvSpPr>
            <p:cNvPr id="144" name="Asset 6 role"/>
            <p:cNvSpPr txBox="1"/>
            <p:nvPr/>
          </p:nvSpPr>
          <p:spPr>
            <a:xfrm>
              <a:off x="9233062" y="4235881"/>
              <a:ext cx="2527310" cy="190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9" b="0" i="0">
                  <a:solidFill>
                    <a:srgbClr val="3F3F46"/>
                  </a:solidFill>
                  <a:latin typeface="Arial"/>
                </a:rPr>
                <a:t>Delivers power to Kitimat smelter</a:t>
              </a:r>
            </a:p>
          </p:txBody>
        </p:sp>
      </p:grpSp>
      <p:pic>
        <p:nvPicPr>
          <p:cNvPr id="145" name="BC Works hydro system — flattened map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7014" y="2359060"/>
            <a:ext cx="4598974" cy="36756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Pilbara Power — Integrated generation and network</dc:title>
  <dc:subject>Rio Tinto Pilbara power asset profile</dc:subject>
  <dc:creator>OpenAI</dc:creator>
  <cp:lastModifiedBy>OpenAI</cp:lastModifiedBy>
  <cp:revision>1</cp:revision>
  <dcterms:created xsi:type="dcterms:W3CDTF">2026-09-16T15:15:05Z</dcterms:created>
  <dcterms:modified xsi:type="dcterms:W3CDTF">2026-09-16T15:15:05Z</dcterms:modified>
</cp:coreProperties>
</file>